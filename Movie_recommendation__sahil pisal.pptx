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71" r:id="rId13"/>
    <p:sldId id="272" r:id="rId14"/>
    <p:sldId id="273"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83A36-CEF4-4074-A138-E8CD60DE8CC1}" type="datetimeFigureOut">
              <a:rPr lang="en-IN" smtClean="0"/>
              <a:t>23-03-2025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BD2892-8A5C-494A-831C-A4798CBF9F5D}" type="slidenum">
              <a:rPr lang="en-IN" smtClean="0"/>
              <a:t>‹#›</a:t>
            </a:fld>
            <a:endParaRPr lang="en-IN"/>
          </a:p>
        </p:txBody>
      </p:sp>
    </p:spTree>
    <p:extLst>
      <p:ext uri="{BB962C8B-B14F-4D97-AF65-F5344CB8AC3E}">
        <p14:creationId xmlns:p14="http://schemas.microsoft.com/office/powerpoint/2010/main" val="2223868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BD2892-8A5C-494A-831C-A4798CBF9F5D}" type="slidenum">
              <a:rPr lang="en-IN" smtClean="0"/>
              <a:t>17</a:t>
            </a:fld>
            <a:endParaRPr lang="en-IN"/>
          </a:p>
        </p:txBody>
      </p:sp>
    </p:spTree>
    <p:extLst>
      <p:ext uri="{BB962C8B-B14F-4D97-AF65-F5344CB8AC3E}">
        <p14:creationId xmlns:p14="http://schemas.microsoft.com/office/powerpoint/2010/main" val="281394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264311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4004084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429588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597123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FB35D-36E1-47D7-AE69-0B3188E7CAB7}" type="datetimeFigureOut">
              <a:rPr lang="en-IN" smtClean="0"/>
              <a:t>23-03-2025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01789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FB35D-36E1-47D7-AE69-0B3188E7CAB7}" type="datetimeFigureOut">
              <a:rPr lang="en-IN" smtClean="0"/>
              <a:t>23-03-2025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38686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FB35D-36E1-47D7-AE69-0B3188E7CAB7}" type="datetimeFigureOut">
              <a:rPr lang="en-IN" smtClean="0"/>
              <a:t>23-03-2025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967106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47927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412552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9803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71095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56406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9065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760097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972263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690331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9FB35D-36E1-47D7-AE69-0B3188E7CAB7}" type="datetimeFigureOut">
              <a:rPr lang="en-IN" smtClean="0"/>
              <a:t>23-03-2025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637794C-77AF-4A19-B0F3-8E0B83B23BB7}" type="slidenum">
              <a:rPr lang="en-IN" smtClean="0"/>
              <a:t>‹#›</a:t>
            </a:fld>
            <a:endParaRPr lang="en-IN"/>
          </a:p>
        </p:txBody>
      </p:sp>
    </p:spTree>
    <p:extLst>
      <p:ext uri="{BB962C8B-B14F-4D97-AF65-F5344CB8AC3E}">
        <p14:creationId xmlns:p14="http://schemas.microsoft.com/office/powerpoint/2010/main" val="1881700178"/>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2B9AF5-0B29-784E-DF78-A2125AF72EA8}"/>
              </a:ext>
            </a:extLst>
          </p:cNvPr>
          <p:cNvSpPr txBox="1"/>
          <p:nvPr/>
        </p:nvSpPr>
        <p:spPr>
          <a:xfrm>
            <a:off x="445963" y="616798"/>
            <a:ext cx="10854813" cy="5324535"/>
          </a:xfrm>
          <a:prstGeom prst="rect">
            <a:avLst/>
          </a:prstGeom>
          <a:noFill/>
        </p:spPr>
        <p:txBody>
          <a:bodyPr wrap="square" rtlCol="0">
            <a:spAutoFit/>
          </a:bodyPr>
          <a:lstStyle/>
          <a:p>
            <a:pPr algn="ctr"/>
            <a:r>
              <a:rPr lang="en-US" sz="4000" dirty="0"/>
              <a:t>MOVIE RECOMMENDATION BASED ON EMOTIONS</a:t>
            </a:r>
          </a:p>
          <a:p>
            <a:r>
              <a:rPr lang="en-US" sz="2000" dirty="0">
                <a:solidFill>
                  <a:srgbClr val="00B0F0"/>
                </a:solidFill>
              </a:rPr>
              <a:t>Presented By </a:t>
            </a:r>
            <a:r>
              <a:rPr lang="en-US" sz="2000" dirty="0"/>
              <a:t>: Sahil Vijay pisal</a:t>
            </a:r>
          </a:p>
          <a:p>
            <a:r>
              <a:rPr lang="en-US" sz="2000" dirty="0">
                <a:solidFill>
                  <a:srgbClr val="00B0F0"/>
                </a:solidFill>
              </a:rPr>
              <a:t>Date</a:t>
            </a:r>
            <a:r>
              <a:rPr lang="en-US" sz="2000" dirty="0"/>
              <a:t> : 16/02/2025</a:t>
            </a:r>
          </a:p>
          <a:p>
            <a:endParaRPr lang="en-US" sz="2000" dirty="0"/>
          </a:p>
          <a:p>
            <a:endParaRPr lang="en-US" sz="2000" dirty="0"/>
          </a:p>
          <a:p>
            <a:endParaRPr lang="en-US" sz="2000" dirty="0"/>
          </a:p>
          <a:p>
            <a:r>
              <a:rPr lang="en-US" sz="2000" dirty="0">
                <a:solidFill>
                  <a:srgbClr val="00B0F0"/>
                </a:solidFill>
              </a:rPr>
              <a:t>Project Guide </a:t>
            </a:r>
            <a:r>
              <a:rPr lang="en-US" sz="2000" dirty="0"/>
              <a:t>: </a:t>
            </a:r>
            <a:r>
              <a:rPr lang="en-US" sz="2000" b="1" dirty="0" err="1"/>
              <a:t>prof.projyot</a:t>
            </a:r>
            <a:r>
              <a:rPr lang="en-US" sz="2000" b="1" dirty="0"/>
              <a:t> Patil </a:t>
            </a:r>
          </a:p>
          <a:p>
            <a:endParaRPr lang="en-US" sz="2000" dirty="0"/>
          </a:p>
          <a:p>
            <a:r>
              <a:rPr lang="en-US" sz="2000" dirty="0">
                <a:solidFill>
                  <a:srgbClr val="00B0F0"/>
                </a:solidFill>
              </a:rPr>
              <a:t>Team Members </a:t>
            </a:r>
            <a:r>
              <a:rPr lang="en-US" sz="2000" dirty="0"/>
              <a:t>:</a:t>
            </a:r>
          </a:p>
          <a:p>
            <a:pPr marL="342900" indent="-342900">
              <a:buFont typeface="Arial" panose="020B0604020202020204" pitchFamily="34" charset="0"/>
              <a:buChar char="•"/>
            </a:pPr>
            <a:r>
              <a:rPr lang="en-US" sz="2000" dirty="0"/>
              <a:t>Om </a:t>
            </a:r>
            <a:r>
              <a:rPr lang="en-US" sz="2000" dirty="0" err="1"/>
              <a:t>Nandkumar</a:t>
            </a:r>
            <a:r>
              <a:rPr lang="en-US" sz="2000" dirty="0"/>
              <a:t> Ghorpade</a:t>
            </a:r>
          </a:p>
          <a:p>
            <a:pPr marL="342900" indent="-342900">
              <a:buFont typeface="Arial" panose="020B0604020202020204" pitchFamily="34" charset="0"/>
              <a:buChar char="•"/>
            </a:pPr>
            <a:r>
              <a:rPr lang="en-US" sz="2000" dirty="0"/>
              <a:t>Sahil Vijay </a:t>
            </a:r>
            <a:r>
              <a:rPr lang="en-US" sz="2000" dirty="0" err="1"/>
              <a:t>Pisal</a:t>
            </a:r>
            <a:endParaRPr lang="en-US" sz="2000" dirty="0"/>
          </a:p>
          <a:p>
            <a:pPr marL="342900" indent="-342900">
              <a:buFont typeface="Arial" panose="020B0604020202020204" pitchFamily="34" charset="0"/>
              <a:buChar char="•"/>
            </a:pPr>
            <a:r>
              <a:rPr lang="en-US" sz="2000" dirty="0"/>
              <a:t>Vaishnav </a:t>
            </a:r>
            <a:r>
              <a:rPr lang="en-US" sz="2000" dirty="0" err="1"/>
              <a:t>Ingale</a:t>
            </a:r>
            <a:endParaRPr lang="en-US" sz="2000" dirty="0"/>
          </a:p>
          <a:p>
            <a:pPr algn="ctr"/>
            <a:endParaRPr lang="en-IN" sz="4000" dirty="0"/>
          </a:p>
        </p:txBody>
      </p:sp>
      <p:pic>
        <p:nvPicPr>
          <p:cNvPr id="3" name="Picture 2">
            <a:extLst>
              <a:ext uri="{FF2B5EF4-FFF2-40B4-BE49-F238E27FC236}">
                <a16:creationId xmlns:a16="http://schemas.microsoft.com/office/drawing/2014/main" id="{A7C5FFB4-D10B-65C3-C850-1734D4383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2555" y="1216565"/>
            <a:ext cx="1905000" cy="1905000"/>
          </a:xfrm>
          <a:prstGeom prst="rect">
            <a:avLst/>
          </a:prstGeom>
        </p:spPr>
      </p:pic>
    </p:spTree>
    <p:extLst>
      <p:ext uri="{BB962C8B-B14F-4D97-AF65-F5344CB8AC3E}">
        <p14:creationId xmlns:p14="http://schemas.microsoft.com/office/powerpoint/2010/main" val="1610946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8F87AA-7E13-79D8-8068-BA944A3B6D56}"/>
              </a:ext>
            </a:extLst>
          </p:cNvPr>
          <p:cNvSpPr txBox="1"/>
          <p:nvPr/>
        </p:nvSpPr>
        <p:spPr>
          <a:xfrm>
            <a:off x="629265" y="619431"/>
            <a:ext cx="10972800" cy="4893647"/>
          </a:xfrm>
          <a:prstGeom prst="rect">
            <a:avLst/>
          </a:prstGeom>
          <a:noFill/>
        </p:spPr>
        <p:txBody>
          <a:bodyPr wrap="square" rtlCol="0">
            <a:spAutoFit/>
          </a:bodyPr>
          <a:lstStyle/>
          <a:p>
            <a:pPr algn="ctr"/>
            <a:r>
              <a:rPr lang="en-US" sz="4000" dirty="0"/>
              <a:t>Project Overview</a:t>
            </a:r>
          </a:p>
          <a:p>
            <a:r>
              <a:rPr lang="en-US" sz="2000" dirty="0">
                <a:solidFill>
                  <a:srgbClr val="00B0F0"/>
                </a:solidFill>
              </a:rPr>
              <a:t>Project Description</a:t>
            </a:r>
          </a:p>
          <a:p>
            <a:r>
              <a:rPr lang="en-US" sz="1600" dirty="0"/>
              <a:t>The goal of this project is to develop a movie recommendation system that suggests films based on a user's current emotional state. The system aims to provide personalized recommendations by analyzing the emotional content of movies and matching them with the user's emotions.</a:t>
            </a:r>
          </a:p>
          <a:p>
            <a:r>
              <a:rPr lang="en-US" sz="2000" dirty="0">
                <a:solidFill>
                  <a:srgbClr val="00B0F0"/>
                </a:solidFill>
              </a:rPr>
              <a:t>Goal</a:t>
            </a:r>
          </a:p>
          <a:p>
            <a:r>
              <a:rPr lang="en-US" sz="1600" b="1" dirty="0"/>
              <a:t>   1. Develop a system that can analyze the emotional content of movies.</a:t>
            </a:r>
          </a:p>
          <a:p>
            <a:r>
              <a:rPr lang="en-US" sz="1600" b="1" dirty="0"/>
              <a:t>   2. Create a user interface to collect user emotions and preferences.</a:t>
            </a:r>
          </a:p>
          <a:p>
            <a:r>
              <a:rPr lang="en-US" sz="1600" b="1" dirty="0"/>
              <a:t>   3. Design an algorithm to match user emotions with movie recommendations.</a:t>
            </a:r>
          </a:p>
          <a:p>
            <a:r>
              <a:rPr lang="en-US" sz="1600" b="1" dirty="0"/>
              <a:t>   4. Evaluate the performance of the recommendation system.</a:t>
            </a:r>
            <a:endParaRPr lang="en-US" sz="2000" dirty="0">
              <a:solidFill>
                <a:srgbClr val="00B0F0"/>
              </a:solidFill>
            </a:endParaRPr>
          </a:p>
          <a:p>
            <a:r>
              <a:rPr lang="en-US" sz="2000" dirty="0">
                <a:solidFill>
                  <a:srgbClr val="00B0F0"/>
                </a:solidFill>
              </a:rPr>
              <a:t>Context</a:t>
            </a:r>
          </a:p>
          <a:p>
            <a:r>
              <a:rPr lang="en-US" sz="2000" dirty="0"/>
              <a:t>With the rise of online streaming services, users are overwhelmed with choices when it comes to selecting a movie to watch. Traditional movie recommendation systems rely on collaborative filtering, content-based filtering, or hybrid approaches. However, these methods often neglect the emotional aspect of movie watching, which plays a crucial role in user satisfaction.</a:t>
            </a:r>
            <a:endParaRPr lang="en-IN" sz="2000" dirty="0"/>
          </a:p>
        </p:txBody>
      </p:sp>
    </p:spTree>
    <p:extLst>
      <p:ext uri="{BB962C8B-B14F-4D97-AF65-F5344CB8AC3E}">
        <p14:creationId xmlns:p14="http://schemas.microsoft.com/office/powerpoint/2010/main" val="222107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7CB7A-C6D1-F8B9-5911-CA91F5B7BA61}"/>
              </a:ext>
            </a:extLst>
          </p:cNvPr>
          <p:cNvSpPr txBox="1"/>
          <p:nvPr/>
        </p:nvSpPr>
        <p:spPr>
          <a:xfrm>
            <a:off x="680720" y="629920"/>
            <a:ext cx="10688320" cy="4524315"/>
          </a:xfrm>
          <a:prstGeom prst="rect">
            <a:avLst/>
          </a:prstGeom>
          <a:noFill/>
        </p:spPr>
        <p:txBody>
          <a:bodyPr wrap="square" rtlCol="0">
            <a:spAutoFit/>
          </a:bodyPr>
          <a:lstStyle/>
          <a:p>
            <a:pPr algn="ctr"/>
            <a:r>
              <a:rPr lang="en-US" sz="4000" dirty="0"/>
              <a:t>Problem Statement</a:t>
            </a:r>
          </a:p>
          <a:p>
            <a:r>
              <a:rPr lang="en-US" sz="2000" dirty="0">
                <a:solidFill>
                  <a:srgbClr val="00B0F0"/>
                </a:solidFill>
              </a:rPr>
              <a:t>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latin typeface="Garamond" panose="02020404030301010803"/>
              </a:rPr>
              <a:t>Traditional movie recommendation systems rely on collaborative filtering, content-based filtering, or hybrid approaches. However, these methods often neglect the emotional aspect of movie watching, which plays a crucial role in user satisfaction. This project addresses this gap by developing an emotion-based movie recommendation system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dirty="0">
              <a:latin typeface="Garamond" panose="020204040303010108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00B0F0"/>
                </a:solidFill>
                <a:latin typeface="Garamond" panose="02020404030301010803"/>
              </a:rPr>
              <a:t>Issues: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 </a:t>
            </a:r>
            <a:r>
              <a:rPr lang="en-US" sz="1600" dirty="0">
                <a:latin typeface="Garamond" panose="02020404030301010803" pitchFamily="18" charset="0"/>
              </a:rPr>
              <a:t>Users often struggle to find movies that match their current emotional state. For example, a user who is feeling stressed may want to watch a calming movie, while a user who is feeling adventurous may want to watch an action-packed movie. Current movie recommendation systems do not take into account the user's emotional state, leading to dissatisfaction and frustration</a:t>
            </a:r>
            <a:r>
              <a:rPr lang="en-US" sz="1600" dirty="0"/>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B0F0"/>
              </a:solidFill>
              <a:effectLst/>
              <a:uLnTx/>
              <a:uFillTx/>
              <a:latin typeface="Garamond" panose="020204040303010108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rgbClr val="00B0F0"/>
                </a:solidFill>
                <a:latin typeface="Garamond" panose="02020404030301010803"/>
              </a:rPr>
              <a:t>Key Challenges: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latin typeface="Garamond" panose="02020404030301010803"/>
              </a:rPr>
              <a:t>Emotional Analysis Challenges1. Emotion Recognition: Developing an accurate emotion recognition system that can detect and classify emotions from user input (e.g., text, speech, facial expressions).2. Emotion Complexity: Handling complex emotions and nuanced emotional states, such as mixed emotions or emotional intensity.3. Contextual Understanding: Understanding the context in which the user is watching the movie, including environmental factors and personal preferences.</a:t>
            </a:r>
          </a:p>
        </p:txBody>
      </p:sp>
    </p:spTree>
    <p:extLst>
      <p:ext uri="{BB962C8B-B14F-4D97-AF65-F5344CB8AC3E}">
        <p14:creationId xmlns:p14="http://schemas.microsoft.com/office/powerpoint/2010/main" val="4150004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40672F-466A-E606-4E65-A87431492A38}"/>
              </a:ext>
            </a:extLst>
          </p:cNvPr>
          <p:cNvSpPr txBox="1"/>
          <p:nvPr/>
        </p:nvSpPr>
        <p:spPr>
          <a:xfrm>
            <a:off x="623693" y="120402"/>
            <a:ext cx="10688320" cy="6617196"/>
          </a:xfrm>
          <a:prstGeom prst="rect">
            <a:avLst/>
          </a:prstGeom>
          <a:noFill/>
        </p:spPr>
        <p:txBody>
          <a:bodyPr wrap="square" rtlCol="0">
            <a:spAutoFit/>
          </a:bodyPr>
          <a:lstStyle/>
          <a:p>
            <a:pPr algn="ctr"/>
            <a:r>
              <a:rPr lang="en-US" sz="4000" dirty="0"/>
              <a:t>Data Related Information</a:t>
            </a:r>
          </a:p>
          <a:p>
            <a:r>
              <a:rPr lang="en-US" sz="2000" dirty="0">
                <a:solidFill>
                  <a:srgbClr val="00B0F0"/>
                </a:solidFill>
              </a:rPr>
              <a:t>Data Structure</a:t>
            </a:r>
          </a:p>
          <a:p>
            <a:pPr marL="342900" indent="-342900">
              <a:buAutoNum type="arabicPeriod"/>
            </a:pPr>
            <a:r>
              <a:rPr lang="en-US" sz="1600" dirty="0"/>
              <a:t>Movie-Emotion Matrix: a matrix representing the emotional tags associated with each movie</a:t>
            </a:r>
          </a:p>
          <a:p>
            <a:r>
              <a:rPr lang="en-US" sz="1600" dirty="0"/>
              <a:t>2. User-Emotion Matrix: a matrix representing the emotional preferences of each user</a:t>
            </a:r>
          </a:p>
          <a:p>
            <a:r>
              <a:rPr lang="en-US" sz="1600" dirty="0"/>
              <a:t>3. User-Movie Matrix: a matrix representing the watch history and ratings of each user for each movie</a:t>
            </a:r>
          </a:p>
          <a:p>
            <a:endParaRPr lang="en-IN" sz="1600" dirty="0"/>
          </a:p>
          <a:p>
            <a:r>
              <a:rPr lang="en-IN" sz="2000" dirty="0">
                <a:solidFill>
                  <a:srgbClr val="00B0F0"/>
                </a:solidFill>
              </a:rPr>
              <a:t>Data Representation</a:t>
            </a:r>
          </a:p>
          <a:p>
            <a:pPr marL="285750" indent="-285750">
              <a:buFontTx/>
              <a:buChar char="-"/>
            </a:pPr>
            <a:r>
              <a:rPr lang="en-US" sz="1600" dirty="0"/>
              <a:t>JSON (JavaScript Object Notation) for representing complex data structures, such as emotional profiles and movie metadata.</a:t>
            </a:r>
          </a:p>
          <a:p>
            <a:pPr marL="285750" indent="-285750">
              <a:buFontTx/>
              <a:buChar char="-"/>
            </a:pPr>
            <a:r>
              <a:rPr lang="en-US" sz="1600" dirty="0"/>
              <a:t>- CSV (Comma Separated Values) for storing and exchanging data between different systems.</a:t>
            </a:r>
          </a:p>
          <a:p>
            <a:pPr marL="285750" indent="-285750">
              <a:buFontTx/>
              <a:buChar char="-"/>
            </a:pPr>
            <a:r>
              <a:rPr lang="en-US" sz="1600" dirty="0"/>
              <a:t>- Data frames or matrices for representing numerical data, such as user ratings and emotional intensities.</a:t>
            </a:r>
            <a:endParaRPr lang="en-IN" sz="1600" dirty="0"/>
          </a:p>
          <a:p>
            <a:r>
              <a:rPr lang="en-IN" sz="2000" dirty="0">
                <a:solidFill>
                  <a:srgbClr val="00B0F0"/>
                </a:solidFill>
              </a:rPr>
              <a:t>Data types</a:t>
            </a:r>
          </a:p>
          <a:p>
            <a:r>
              <a:rPr lang="en-IN" sz="1600" dirty="0"/>
              <a:t>Integer</a:t>
            </a:r>
          </a:p>
          <a:p>
            <a:r>
              <a:rPr lang="en-IN" sz="1600" dirty="0"/>
              <a:t>Float</a:t>
            </a:r>
          </a:p>
          <a:p>
            <a:r>
              <a:rPr lang="en-IN" sz="1600" dirty="0"/>
              <a:t>Boolean</a:t>
            </a:r>
          </a:p>
          <a:p>
            <a:r>
              <a:rPr lang="en-IN" sz="1600" dirty="0"/>
              <a:t>Enum</a:t>
            </a:r>
          </a:p>
          <a:p>
            <a:r>
              <a:rPr lang="en-IN" sz="1600" dirty="0"/>
              <a:t>Datetime</a:t>
            </a:r>
          </a:p>
          <a:p>
            <a:endParaRPr lang="en-IN" sz="1600" dirty="0"/>
          </a:p>
          <a:p>
            <a:r>
              <a:rPr lang="en-IN" sz="2000" dirty="0">
                <a:solidFill>
                  <a:srgbClr val="00B0F0"/>
                </a:solidFill>
              </a:rPr>
              <a:t>Data pattern and trends </a:t>
            </a:r>
          </a:p>
          <a:p>
            <a:endParaRPr lang="en-US" sz="1600" dirty="0"/>
          </a:p>
          <a:p>
            <a:pPr marL="342900" indent="-342900">
              <a:buAutoNum type="arabicPeriod"/>
            </a:pPr>
            <a:r>
              <a:rPr lang="en-US" sz="1600" dirty="0"/>
              <a:t>User Data patterns</a:t>
            </a:r>
          </a:p>
          <a:p>
            <a:pPr marL="342900" indent="-342900">
              <a:buAutoNum type="arabicPeriod"/>
            </a:pPr>
            <a:r>
              <a:rPr lang="en-US" sz="1600" dirty="0"/>
              <a:t>Movie data patterns</a:t>
            </a:r>
          </a:p>
          <a:p>
            <a:pPr marL="342900" indent="-342900">
              <a:buAutoNum type="arabicPeriod"/>
            </a:pPr>
            <a:r>
              <a:rPr lang="en-IN" sz="1600" dirty="0"/>
              <a:t>Recommendation Data patterns</a:t>
            </a:r>
          </a:p>
        </p:txBody>
      </p:sp>
    </p:spTree>
    <p:extLst>
      <p:ext uri="{BB962C8B-B14F-4D97-AF65-F5344CB8AC3E}">
        <p14:creationId xmlns:p14="http://schemas.microsoft.com/office/powerpoint/2010/main" val="2673123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C386D4-E194-507F-3927-6162B396B257}"/>
              </a:ext>
            </a:extLst>
          </p:cNvPr>
          <p:cNvSpPr txBox="1"/>
          <p:nvPr/>
        </p:nvSpPr>
        <p:spPr>
          <a:xfrm>
            <a:off x="629920" y="660400"/>
            <a:ext cx="10932160" cy="707886"/>
          </a:xfrm>
          <a:prstGeom prst="rect">
            <a:avLst/>
          </a:prstGeom>
          <a:noFill/>
        </p:spPr>
        <p:txBody>
          <a:bodyPr wrap="square" rtlCol="0">
            <a:spAutoFit/>
          </a:bodyPr>
          <a:lstStyle/>
          <a:p>
            <a:pPr algn="ctr"/>
            <a:r>
              <a:rPr lang="en-US" sz="4000" dirty="0"/>
              <a:t>Project Flow</a:t>
            </a:r>
            <a:endParaRPr lang="en-IN" sz="4000" dirty="0"/>
          </a:p>
        </p:txBody>
      </p:sp>
      <p:pic>
        <p:nvPicPr>
          <p:cNvPr id="5" name="Picture 4">
            <a:extLst>
              <a:ext uri="{FF2B5EF4-FFF2-40B4-BE49-F238E27FC236}">
                <a16:creationId xmlns:a16="http://schemas.microsoft.com/office/drawing/2014/main" id="{2B577E90-C3C6-6E74-CF07-6F6807DBF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038" y="1563023"/>
            <a:ext cx="10097729" cy="4733310"/>
          </a:xfrm>
          <a:prstGeom prst="rect">
            <a:avLst/>
          </a:prstGeom>
        </p:spPr>
      </p:pic>
    </p:spTree>
    <p:extLst>
      <p:ext uri="{BB962C8B-B14F-4D97-AF65-F5344CB8AC3E}">
        <p14:creationId xmlns:p14="http://schemas.microsoft.com/office/powerpoint/2010/main" val="37765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DA030E-0C8E-3853-EA7C-71DBB35A2470}"/>
              </a:ext>
            </a:extLst>
          </p:cNvPr>
          <p:cNvSpPr txBox="1"/>
          <p:nvPr/>
        </p:nvSpPr>
        <p:spPr>
          <a:xfrm>
            <a:off x="777240" y="589280"/>
            <a:ext cx="10637520" cy="5324535"/>
          </a:xfrm>
          <a:prstGeom prst="rect">
            <a:avLst/>
          </a:prstGeom>
          <a:noFill/>
        </p:spPr>
        <p:txBody>
          <a:bodyPr wrap="square" rtlCol="0">
            <a:spAutoFit/>
          </a:bodyPr>
          <a:lstStyle/>
          <a:p>
            <a:pPr algn="ctr"/>
            <a:r>
              <a:rPr lang="en-US" sz="4000" dirty="0"/>
              <a:t>Methodology</a:t>
            </a:r>
          </a:p>
          <a:p>
            <a:pPr marL="457200" indent="-457200">
              <a:buAutoNum type="arabicPeriod"/>
            </a:pPr>
            <a:r>
              <a:rPr lang="en-US" sz="2000" dirty="0">
                <a:solidFill>
                  <a:srgbClr val="00B0F0"/>
                </a:solidFill>
              </a:rPr>
              <a:t>Data Collection: </a:t>
            </a:r>
          </a:p>
          <a:p>
            <a:r>
              <a:rPr lang="en-US" sz="2000" dirty="0"/>
              <a:t>Gather</a:t>
            </a:r>
            <a:r>
              <a:rPr lang="en-US" sz="2000" dirty="0">
                <a:solidFill>
                  <a:srgbClr val="00B0F0"/>
                </a:solidFill>
              </a:rPr>
              <a:t> </a:t>
            </a:r>
            <a:r>
              <a:rPr lang="en-US" sz="2000" dirty="0"/>
              <a:t>a dataset of movies with their corresponding emotional content (e.g., genres, emotional keywords, sentiment analysis).</a:t>
            </a:r>
          </a:p>
          <a:p>
            <a:endParaRPr lang="en-US" sz="2000" dirty="0"/>
          </a:p>
          <a:p>
            <a:r>
              <a:rPr lang="en-US" sz="2000" dirty="0">
                <a:solidFill>
                  <a:srgbClr val="00B0F0"/>
                </a:solidFill>
              </a:rPr>
              <a:t>2. Emotion Analysis:</a:t>
            </a:r>
          </a:p>
          <a:p>
            <a:r>
              <a:rPr lang="en-US" sz="2000" dirty="0">
                <a:solidFill>
                  <a:srgbClr val="00B0F0"/>
                </a:solidFill>
              </a:rPr>
              <a:t> </a:t>
            </a:r>
            <a:r>
              <a:rPr lang="en-US" sz="2000" dirty="0"/>
              <a:t>Develop a natural language processing (NLP) module to analyze user input (e.g., text, speech) and determine their current emotional state.</a:t>
            </a:r>
          </a:p>
          <a:p>
            <a:endParaRPr lang="en-US" sz="2000" dirty="0"/>
          </a:p>
          <a:p>
            <a:r>
              <a:rPr lang="en-US" sz="2000" dirty="0"/>
              <a:t>3. </a:t>
            </a:r>
            <a:r>
              <a:rPr lang="en-US" sz="2000" dirty="0">
                <a:solidFill>
                  <a:srgbClr val="00B0F0"/>
                </a:solidFill>
              </a:rPr>
              <a:t>Recommendation Algorithm:</a:t>
            </a:r>
          </a:p>
          <a:p>
            <a:r>
              <a:rPr lang="en-US" sz="2000" dirty="0">
                <a:solidFill>
                  <a:srgbClr val="00B0F0"/>
                </a:solidFill>
              </a:rPr>
              <a:t> </a:t>
            </a:r>
            <a:r>
              <a:rPr lang="en-US" sz="2000" dirty="0"/>
              <a:t>Design a machine learning-based algorithm to match user emotions with movie recommendations.</a:t>
            </a:r>
          </a:p>
          <a:p>
            <a:endParaRPr lang="en-US" sz="2000" dirty="0"/>
          </a:p>
          <a:p>
            <a:r>
              <a:rPr lang="en-US" sz="2000" dirty="0">
                <a:solidFill>
                  <a:srgbClr val="00B0F0"/>
                </a:solidFill>
              </a:rPr>
              <a:t>4. System Evaluation:</a:t>
            </a:r>
          </a:p>
          <a:p>
            <a:r>
              <a:rPr lang="en-US" sz="2000" dirty="0">
                <a:solidFill>
                  <a:srgbClr val="00B0F0"/>
                </a:solidFill>
              </a:rPr>
              <a:t> </a:t>
            </a:r>
            <a:r>
              <a:rPr lang="en-US" sz="2000" dirty="0"/>
              <a:t>Assess the performance of the recommendation system using metrics such as precision, recall, and user satisfaction</a:t>
            </a:r>
            <a:r>
              <a:rPr lang="en-US" sz="2000" dirty="0">
                <a:solidFill>
                  <a:srgbClr val="00B0F0"/>
                </a:solidFill>
              </a:rPr>
              <a:t>.</a:t>
            </a:r>
            <a:endParaRPr lang="en-IN" sz="2000" dirty="0">
              <a:solidFill>
                <a:srgbClr val="00B0F0"/>
              </a:solidFill>
            </a:endParaRPr>
          </a:p>
        </p:txBody>
      </p:sp>
    </p:spTree>
    <p:extLst>
      <p:ext uri="{BB962C8B-B14F-4D97-AF65-F5344CB8AC3E}">
        <p14:creationId xmlns:p14="http://schemas.microsoft.com/office/powerpoint/2010/main" val="161204077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6AFBCB52-B8EE-A976-1EA6-55BD7ACCDCEA}"/>
              </a:ext>
            </a:extLst>
          </p:cNvPr>
          <p:cNvGraphicFramePr>
            <a:graphicFrameLocks noGrp="1"/>
          </p:cNvGraphicFramePr>
          <p:nvPr>
            <p:extLst>
              <p:ext uri="{D42A27DB-BD31-4B8C-83A1-F6EECF244321}">
                <p14:modId xmlns:p14="http://schemas.microsoft.com/office/powerpoint/2010/main" val="495651201"/>
              </p:ext>
            </p:extLst>
          </p:nvPr>
        </p:nvGraphicFramePr>
        <p:xfrm>
          <a:off x="1087120" y="1818640"/>
          <a:ext cx="9845040" cy="4226559"/>
        </p:xfrm>
        <a:graphic>
          <a:graphicData uri="http://schemas.openxmlformats.org/drawingml/2006/table">
            <a:tbl>
              <a:tblPr firstRow="1" bandRow="1">
                <a:tableStyleId>{5C22544A-7EE6-4342-B048-85BDC9FD1C3A}</a:tableStyleId>
              </a:tblPr>
              <a:tblGrid>
                <a:gridCol w="3248698">
                  <a:extLst>
                    <a:ext uri="{9D8B030D-6E8A-4147-A177-3AD203B41FA5}">
                      <a16:colId xmlns:a16="http://schemas.microsoft.com/office/drawing/2014/main" val="86296372"/>
                    </a:ext>
                  </a:extLst>
                </a:gridCol>
                <a:gridCol w="3298171">
                  <a:extLst>
                    <a:ext uri="{9D8B030D-6E8A-4147-A177-3AD203B41FA5}">
                      <a16:colId xmlns:a16="http://schemas.microsoft.com/office/drawing/2014/main" val="3891917096"/>
                    </a:ext>
                  </a:extLst>
                </a:gridCol>
                <a:gridCol w="3298171">
                  <a:extLst>
                    <a:ext uri="{9D8B030D-6E8A-4147-A177-3AD203B41FA5}">
                      <a16:colId xmlns:a16="http://schemas.microsoft.com/office/drawing/2014/main" val="229002996"/>
                    </a:ext>
                  </a:extLst>
                </a:gridCol>
              </a:tblGrid>
              <a:tr h="799620">
                <a:tc>
                  <a:txBody>
                    <a:bodyPr/>
                    <a:lstStyle/>
                    <a:p>
                      <a:r>
                        <a:rPr lang="en-US" dirty="0"/>
                        <a:t>TEAM MEMBER</a:t>
                      </a:r>
                    </a:p>
                    <a:p>
                      <a:r>
                        <a:rPr lang="en-US" dirty="0"/>
                        <a:t>NAME</a:t>
                      </a:r>
                      <a:endParaRPr lang="en-IN" dirty="0"/>
                    </a:p>
                  </a:txBody>
                  <a:tcPr/>
                </a:tc>
                <a:tc>
                  <a:txBody>
                    <a:bodyPr/>
                    <a:lstStyle/>
                    <a:p>
                      <a:r>
                        <a:rPr lang="en-US" dirty="0"/>
                        <a:t>INDIVIDUAL ROLE</a:t>
                      </a:r>
                      <a:endParaRPr lang="en-IN" dirty="0"/>
                    </a:p>
                  </a:txBody>
                  <a:tcPr/>
                </a:tc>
                <a:tc>
                  <a:txBody>
                    <a:bodyPr/>
                    <a:lstStyle/>
                    <a:p>
                      <a:r>
                        <a:rPr lang="en-US" dirty="0"/>
                        <a:t>KEY CONTRIBUTION</a:t>
                      </a:r>
                      <a:endParaRPr lang="en-IN" dirty="0"/>
                    </a:p>
                  </a:txBody>
                  <a:tcPr/>
                </a:tc>
                <a:extLst>
                  <a:ext uri="{0D108BD9-81ED-4DB2-BD59-A6C34878D82A}">
                    <a16:rowId xmlns:a16="http://schemas.microsoft.com/office/drawing/2014/main" val="1640340861"/>
                  </a:ext>
                </a:extLst>
              </a:tr>
              <a:tr h="1142313">
                <a:tc>
                  <a:txBody>
                    <a:bodyPr/>
                    <a:lstStyle/>
                    <a:p>
                      <a:r>
                        <a:rPr lang="en-US" dirty="0"/>
                        <a:t>1.Om </a:t>
                      </a:r>
                      <a:r>
                        <a:rPr lang="en-US" dirty="0" err="1"/>
                        <a:t>Nandkumar</a:t>
                      </a:r>
                      <a:r>
                        <a:rPr lang="en-US" dirty="0"/>
                        <a:t> Ghorpade</a:t>
                      </a:r>
                      <a:endParaRPr lang="en-IN" dirty="0"/>
                    </a:p>
                  </a:txBody>
                  <a:tcPr/>
                </a:tc>
                <a:tc>
                  <a:txBody>
                    <a:bodyPr/>
                    <a:lstStyle/>
                    <a:p>
                      <a:r>
                        <a:rPr lang="en-US" dirty="0"/>
                        <a:t>Python Machine Learning</a:t>
                      </a:r>
                      <a:endParaRPr lang="en-IN" dirty="0"/>
                    </a:p>
                  </a:txBody>
                  <a:tcPr/>
                </a:tc>
                <a:tc>
                  <a:txBody>
                    <a:bodyPr/>
                    <a:lstStyle/>
                    <a:p>
                      <a:r>
                        <a:rPr lang="en-US" dirty="0"/>
                        <a:t>Team work coordination,</a:t>
                      </a:r>
                    </a:p>
                    <a:p>
                      <a:r>
                        <a:rPr lang="en-US" dirty="0"/>
                        <a:t>Timely execution of each task</a:t>
                      </a:r>
                      <a:endParaRPr lang="en-IN" dirty="0"/>
                    </a:p>
                  </a:txBody>
                  <a:tcPr/>
                </a:tc>
                <a:extLst>
                  <a:ext uri="{0D108BD9-81ED-4DB2-BD59-A6C34878D82A}">
                    <a16:rowId xmlns:a16="http://schemas.microsoft.com/office/drawing/2014/main" val="764695690"/>
                  </a:ext>
                </a:extLst>
              </a:tr>
              <a:tr h="1142313">
                <a:tc>
                  <a:txBody>
                    <a:bodyPr/>
                    <a:lstStyle/>
                    <a:p>
                      <a:r>
                        <a:rPr lang="en-US" dirty="0"/>
                        <a:t>2.Vaishnav </a:t>
                      </a:r>
                      <a:r>
                        <a:rPr lang="en-US" dirty="0" err="1"/>
                        <a:t>Ingale</a:t>
                      </a:r>
                      <a:endParaRPr lang="en-IN" dirty="0"/>
                    </a:p>
                  </a:txBody>
                  <a:tcPr/>
                </a:tc>
                <a:tc>
                  <a:txBody>
                    <a:bodyPr/>
                    <a:lstStyle/>
                    <a:p>
                      <a:r>
                        <a:rPr lang="en-US" dirty="0"/>
                        <a:t>Python deep Learning</a:t>
                      </a:r>
                      <a:endParaRPr lang="en-IN" dirty="0"/>
                    </a:p>
                  </a:txBody>
                  <a:tcPr/>
                </a:tc>
                <a:tc>
                  <a:txBody>
                    <a:bodyPr/>
                    <a:lstStyle/>
                    <a:p>
                      <a:r>
                        <a:rPr lang="en-US" dirty="0"/>
                        <a:t>Explaining project details,</a:t>
                      </a:r>
                    </a:p>
                    <a:p>
                      <a:r>
                        <a:rPr lang="en-US" dirty="0"/>
                        <a:t>Contributing in projects progress</a:t>
                      </a:r>
                      <a:endParaRPr lang="en-IN" dirty="0"/>
                    </a:p>
                  </a:txBody>
                  <a:tcPr/>
                </a:tc>
                <a:extLst>
                  <a:ext uri="{0D108BD9-81ED-4DB2-BD59-A6C34878D82A}">
                    <a16:rowId xmlns:a16="http://schemas.microsoft.com/office/drawing/2014/main" val="2563702124"/>
                  </a:ext>
                </a:extLst>
              </a:tr>
              <a:tr h="1142313">
                <a:tc>
                  <a:txBody>
                    <a:bodyPr/>
                    <a:lstStyle/>
                    <a:p>
                      <a:r>
                        <a:rPr lang="en-US" dirty="0"/>
                        <a:t>3.Sahil Vijay </a:t>
                      </a:r>
                      <a:r>
                        <a:rPr lang="en-US" dirty="0" err="1"/>
                        <a:t>Pisal</a:t>
                      </a:r>
                      <a:endParaRPr lang="en-IN" dirty="0"/>
                    </a:p>
                  </a:txBody>
                  <a:tcPr/>
                </a:tc>
                <a:tc>
                  <a:txBody>
                    <a:bodyPr/>
                    <a:lstStyle/>
                    <a:p>
                      <a:r>
                        <a:rPr lang="en-US" dirty="0"/>
                        <a:t>Data analysis</a:t>
                      </a:r>
                      <a:endParaRPr lang="en-IN" dirty="0"/>
                    </a:p>
                  </a:txBody>
                  <a:tcPr/>
                </a:tc>
                <a:tc>
                  <a:txBody>
                    <a:bodyPr/>
                    <a:lstStyle/>
                    <a:p>
                      <a:r>
                        <a:rPr lang="en-US" dirty="0"/>
                        <a:t>Collecting data requirements and ensuring timely executions of work </a:t>
                      </a:r>
                      <a:endParaRPr lang="en-IN" dirty="0"/>
                    </a:p>
                  </a:txBody>
                  <a:tcPr/>
                </a:tc>
                <a:extLst>
                  <a:ext uri="{0D108BD9-81ED-4DB2-BD59-A6C34878D82A}">
                    <a16:rowId xmlns:a16="http://schemas.microsoft.com/office/drawing/2014/main" val="3666658299"/>
                  </a:ext>
                </a:extLst>
              </a:tr>
            </a:tbl>
          </a:graphicData>
        </a:graphic>
      </p:graphicFrame>
      <p:sp>
        <p:nvSpPr>
          <p:cNvPr id="10" name="TextBox 9">
            <a:extLst>
              <a:ext uri="{FF2B5EF4-FFF2-40B4-BE49-F238E27FC236}">
                <a16:creationId xmlns:a16="http://schemas.microsoft.com/office/drawing/2014/main" id="{6AA584DE-CEDD-B570-8BAC-8C9D1E716AF0}"/>
              </a:ext>
            </a:extLst>
          </p:cNvPr>
          <p:cNvSpPr txBox="1"/>
          <p:nvPr/>
        </p:nvSpPr>
        <p:spPr>
          <a:xfrm>
            <a:off x="716280" y="812801"/>
            <a:ext cx="10759440" cy="707886"/>
          </a:xfrm>
          <a:prstGeom prst="rect">
            <a:avLst/>
          </a:prstGeom>
          <a:noFill/>
        </p:spPr>
        <p:txBody>
          <a:bodyPr wrap="square" rtlCol="0">
            <a:spAutoFit/>
          </a:bodyPr>
          <a:lstStyle/>
          <a:p>
            <a:pPr algn="ctr"/>
            <a:r>
              <a:rPr lang="en-US" sz="4000" dirty="0"/>
              <a:t>Team Members</a:t>
            </a:r>
            <a:endParaRPr lang="en-IN" sz="4000" dirty="0"/>
          </a:p>
        </p:txBody>
      </p:sp>
    </p:spTree>
    <p:extLst>
      <p:ext uri="{BB962C8B-B14F-4D97-AF65-F5344CB8AC3E}">
        <p14:creationId xmlns:p14="http://schemas.microsoft.com/office/powerpoint/2010/main" val="1469231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B68137-DFEE-87AD-6D7B-FCA4EF1CAE0F}"/>
              </a:ext>
            </a:extLst>
          </p:cNvPr>
          <p:cNvSpPr txBox="1"/>
          <p:nvPr/>
        </p:nvSpPr>
        <p:spPr>
          <a:xfrm>
            <a:off x="595507" y="504395"/>
            <a:ext cx="10657840" cy="5632311"/>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ADVANTAGES</a:t>
            </a:r>
          </a:p>
          <a:p>
            <a:pPr marL="457200" indent="-457200">
              <a:buAutoNum type="arabicPeriod"/>
            </a:pPr>
            <a:r>
              <a:rPr lang="en-US" sz="2000" dirty="0"/>
              <a:t>Personalized Recommendations: Users receive movie recommendations tailored to their emotional preferences, increasing user satisfaction.</a:t>
            </a:r>
          </a:p>
          <a:p>
            <a:pPr marL="457200" indent="-457200">
              <a:buAutoNum type="arabicPeriod"/>
            </a:pPr>
            <a:endParaRPr lang="en-US" sz="2000" dirty="0"/>
          </a:p>
          <a:p>
            <a:pPr marL="457200" indent="-457200">
              <a:buAutoNum type="arabicPeriod"/>
            </a:pPr>
            <a:r>
              <a:rPr lang="en-US" sz="2000" dirty="0"/>
              <a:t>Emotional Resonance: Movies that evoke strong emotions in users are more engaging and memorable.</a:t>
            </a:r>
          </a:p>
          <a:p>
            <a:pPr marL="457200" indent="-457200">
              <a:buAutoNum type="arabicPeriod"/>
            </a:pPr>
            <a:endParaRPr lang="en-US" sz="2000" dirty="0"/>
          </a:p>
          <a:p>
            <a:pPr marL="457200" indent="-457200">
              <a:buAutoNum type="arabicPeriod"/>
            </a:pPr>
            <a:r>
              <a:rPr lang="en-US" sz="2000" dirty="0"/>
              <a:t>Improved User Experience: The system provides a unique and engaging way for users to discover new movies.</a:t>
            </a:r>
          </a:p>
          <a:p>
            <a:pPr marL="457200" indent="-457200">
              <a:buAutoNum type="arabicPeriod"/>
            </a:pPr>
            <a:endParaRPr lang="en-IN" sz="2000" dirty="0"/>
          </a:p>
          <a:p>
            <a:pPr marL="457200" indent="-457200">
              <a:buAutoNum type="arabicPeriod" startAt="4"/>
            </a:pPr>
            <a:r>
              <a:rPr lang="en-US" sz="2000" dirty="0"/>
              <a:t>Scalability: The system is designed to handle large volumes of user data and movie metadata.</a:t>
            </a:r>
          </a:p>
          <a:p>
            <a:pPr marL="457200" indent="-457200">
              <a:buAutoNum type="arabicPeriod" startAt="4"/>
            </a:pPr>
            <a:endParaRPr lang="en-US" sz="2000" dirty="0"/>
          </a:p>
          <a:p>
            <a:pPr marL="457200" indent="-457200">
              <a:buAutoNum type="arabicPeriod" startAt="4"/>
            </a:pPr>
            <a:r>
              <a:rPr lang="en-US" sz="2000" dirty="0"/>
              <a:t>Emotional Intelligence: The system promotes emotional intelligence by encouraging users to recognize and understand their emotions.</a:t>
            </a:r>
            <a:endParaRPr lang="en-IN" sz="2000" dirty="0"/>
          </a:p>
          <a:p>
            <a:endParaRPr lang="en-IN" sz="2000" dirty="0"/>
          </a:p>
        </p:txBody>
      </p:sp>
    </p:spTree>
    <p:extLst>
      <p:ext uri="{BB962C8B-B14F-4D97-AF65-F5344CB8AC3E}">
        <p14:creationId xmlns:p14="http://schemas.microsoft.com/office/powerpoint/2010/main" val="99348976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A0969F-ADD6-EAA9-A959-B1C335C0DEF2}"/>
              </a:ext>
            </a:extLst>
          </p:cNvPr>
          <p:cNvSpPr txBox="1"/>
          <p:nvPr/>
        </p:nvSpPr>
        <p:spPr>
          <a:xfrm>
            <a:off x="716280" y="566678"/>
            <a:ext cx="10759440" cy="3785652"/>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DISADVANTAGES</a:t>
            </a:r>
          </a:p>
          <a:p>
            <a:pPr marL="457200" indent="-457200">
              <a:buAutoNum type="arabicPeriod"/>
            </a:pPr>
            <a:r>
              <a:rPr lang="en-US" sz="2000" dirty="0"/>
              <a:t>Complexity: The system requires advanced natural language processing (NLP) and machine learning techniques, making it complex to develop and maintain.</a:t>
            </a:r>
          </a:p>
          <a:p>
            <a:pPr marL="457200" indent="-457200">
              <a:buAutoNum type="arabicPeriod"/>
            </a:pPr>
            <a:endParaRPr lang="en-US" sz="2000" dirty="0"/>
          </a:p>
          <a:p>
            <a:pPr marL="457200" indent="-457200">
              <a:buAutoNum type="arabicPeriod"/>
            </a:pPr>
            <a:r>
              <a:rPr lang="en-US" sz="2000" dirty="0"/>
              <a:t> Data Quality Issues: The system relies on high-quality emotional data from users, which can be noisy, biased, or incomplete.</a:t>
            </a:r>
          </a:p>
          <a:p>
            <a:pPr marL="457200" indent="-457200">
              <a:buAutoNum type="arabicPeriod"/>
            </a:pPr>
            <a:endParaRPr lang="en-US" sz="2000" dirty="0"/>
          </a:p>
          <a:p>
            <a:pPr marL="457200" indent="-457200">
              <a:buAutoNum type="arabicPeriod"/>
            </a:pPr>
            <a:r>
              <a:rPr lang="en-US" sz="2000" dirty="0"/>
              <a:t>Emotion Recognition Limitations: The system's emotion recognition capabilities may not always be accurate, leading to incorrect recommendations.</a:t>
            </a:r>
            <a:endParaRPr lang="en-IN" sz="2000" dirty="0"/>
          </a:p>
          <a:p>
            <a:endParaRPr lang="en-IN" sz="2000" b="1" dirty="0"/>
          </a:p>
        </p:txBody>
      </p:sp>
    </p:spTree>
    <p:extLst>
      <p:ext uri="{BB962C8B-B14F-4D97-AF65-F5344CB8AC3E}">
        <p14:creationId xmlns:p14="http://schemas.microsoft.com/office/powerpoint/2010/main" val="2367250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352FF0-EB6E-1961-C00D-AF56DCB5A60E}"/>
              </a:ext>
            </a:extLst>
          </p:cNvPr>
          <p:cNvSpPr txBox="1"/>
          <p:nvPr/>
        </p:nvSpPr>
        <p:spPr>
          <a:xfrm>
            <a:off x="756920" y="558800"/>
            <a:ext cx="10678160" cy="5016758"/>
          </a:xfrm>
          <a:prstGeom prst="rect">
            <a:avLst/>
          </a:prstGeom>
          <a:noFill/>
        </p:spPr>
        <p:txBody>
          <a:bodyPr wrap="square" rtlCol="0">
            <a:spAutoFit/>
          </a:bodyPr>
          <a:lstStyle/>
          <a:p>
            <a:pPr algn="ctr"/>
            <a:r>
              <a:rPr lang="en-US" sz="4000" dirty="0"/>
              <a:t>Why this problem is important</a:t>
            </a:r>
          </a:p>
          <a:p>
            <a:pPr algn="ctr"/>
            <a:endParaRPr lang="en-US" sz="4000" dirty="0"/>
          </a:p>
          <a:p>
            <a:r>
              <a:rPr lang="en-US" sz="2000" dirty="0">
                <a:solidFill>
                  <a:srgbClr val="00B0F0"/>
                </a:solidFill>
              </a:rPr>
              <a:t>1.Advancements in NLP and Machine Learning: </a:t>
            </a:r>
          </a:p>
          <a:p>
            <a:r>
              <a:rPr lang="en-US" sz="2000" dirty="0"/>
              <a:t>Developing an Emotion-Based Movie Recommendation System requires advancements in natural language processing (NLP) and machine learning techniques</a:t>
            </a:r>
          </a:p>
          <a:p>
            <a:endParaRPr lang="en-US" sz="2000" dirty="0"/>
          </a:p>
          <a:p>
            <a:r>
              <a:rPr lang="en-US" sz="2000" dirty="0">
                <a:solidFill>
                  <a:srgbClr val="00B0F0"/>
                </a:solidFill>
              </a:rPr>
              <a:t>2. Emotion Recognition and Analysis:</a:t>
            </a:r>
          </a:p>
          <a:p>
            <a:r>
              <a:rPr lang="en-US" sz="2000" dirty="0">
                <a:solidFill>
                  <a:srgbClr val="00B0F0"/>
                </a:solidFill>
              </a:rPr>
              <a:t> </a:t>
            </a:r>
            <a:r>
              <a:rPr lang="en-US" sz="2000" dirty="0"/>
              <a:t>The system can contribute to the development of emotion recognition and analysis techniques, with applications in various fields, such as psychology, marketing, and healthcare.</a:t>
            </a:r>
          </a:p>
          <a:p>
            <a:endParaRPr lang="en-US" sz="2000" dirty="0"/>
          </a:p>
          <a:p>
            <a:r>
              <a:rPr lang="en-US" sz="2000" dirty="0">
                <a:solidFill>
                  <a:srgbClr val="00B0F0"/>
                </a:solidFill>
              </a:rPr>
              <a:t>3. Personalization and Recommendation Systems: </a:t>
            </a:r>
          </a:p>
          <a:p>
            <a:r>
              <a:rPr lang="en-US" sz="2000" dirty="0"/>
              <a:t>The system can serve as a model for developing personalized recommendation systems in other domains, such as music, products, or services.</a:t>
            </a:r>
            <a:endParaRPr lang="en-IN" sz="2000" dirty="0"/>
          </a:p>
        </p:txBody>
      </p:sp>
    </p:spTree>
    <p:extLst>
      <p:ext uri="{BB962C8B-B14F-4D97-AF65-F5344CB8AC3E}">
        <p14:creationId xmlns:p14="http://schemas.microsoft.com/office/powerpoint/2010/main" val="26248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27A5A-1480-2A85-B8CE-5D64F567CA2F}"/>
              </a:ext>
            </a:extLst>
          </p:cNvPr>
          <p:cNvSpPr txBox="1"/>
          <p:nvPr/>
        </p:nvSpPr>
        <p:spPr>
          <a:xfrm>
            <a:off x="792480" y="619760"/>
            <a:ext cx="10607040" cy="707886"/>
          </a:xfrm>
          <a:prstGeom prst="rect">
            <a:avLst/>
          </a:prstGeom>
          <a:noFill/>
        </p:spPr>
        <p:txBody>
          <a:bodyPr wrap="square" rtlCol="0">
            <a:spAutoFit/>
          </a:bodyPr>
          <a:lstStyle/>
          <a:p>
            <a:pPr algn="ctr"/>
            <a:r>
              <a:rPr lang="en-US" sz="4000" dirty="0"/>
              <a:t>Screenshot Or Visuals</a:t>
            </a:r>
            <a:endParaRPr lang="en-IN" sz="4000" dirty="0"/>
          </a:p>
        </p:txBody>
      </p:sp>
      <p:pic>
        <p:nvPicPr>
          <p:cNvPr id="5" name="Picture 4">
            <a:extLst>
              <a:ext uri="{FF2B5EF4-FFF2-40B4-BE49-F238E27FC236}">
                <a16:creationId xmlns:a16="http://schemas.microsoft.com/office/drawing/2014/main" id="{86BD250A-1C77-8A08-0C0A-E065B5832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8082"/>
            <a:ext cx="12192000" cy="5528408"/>
          </a:xfrm>
          <a:prstGeom prst="rect">
            <a:avLst/>
          </a:prstGeom>
        </p:spPr>
      </p:pic>
    </p:spTree>
    <p:extLst>
      <p:ext uri="{BB962C8B-B14F-4D97-AF65-F5344CB8AC3E}">
        <p14:creationId xmlns:p14="http://schemas.microsoft.com/office/powerpoint/2010/main" val="2352086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256C5A-201B-A5D1-A5D2-F5DCA51E3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87" y="1101213"/>
            <a:ext cx="11916698" cy="5577054"/>
          </a:xfrm>
          <a:prstGeom prst="rect">
            <a:avLst/>
          </a:prstGeom>
        </p:spPr>
      </p:pic>
      <p:sp>
        <p:nvSpPr>
          <p:cNvPr id="4" name="TextBox 3">
            <a:extLst>
              <a:ext uri="{FF2B5EF4-FFF2-40B4-BE49-F238E27FC236}">
                <a16:creationId xmlns:a16="http://schemas.microsoft.com/office/drawing/2014/main" id="{EFF1C259-232A-941C-3A78-92063B2B3C62}"/>
              </a:ext>
            </a:extLst>
          </p:cNvPr>
          <p:cNvSpPr txBox="1"/>
          <p:nvPr/>
        </p:nvSpPr>
        <p:spPr>
          <a:xfrm>
            <a:off x="1" y="206477"/>
            <a:ext cx="12192000" cy="707886"/>
          </a:xfrm>
          <a:prstGeom prst="rect">
            <a:avLst/>
          </a:prstGeom>
          <a:noFill/>
        </p:spPr>
        <p:txBody>
          <a:bodyPr wrap="square" rtlCol="0">
            <a:spAutoFit/>
          </a:bodyPr>
          <a:lstStyle/>
          <a:p>
            <a:pPr algn="ctr"/>
            <a:r>
              <a:rPr lang="en-US" sz="4000" dirty="0"/>
              <a:t>Project Code</a:t>
            </a:r>
            <a:endParaRPr lang="en-IN" sz="4000" dirty="0"/>
          </a:p>
        </p:txBody>
      </p:sp>
    </p:spTree>
    <p:extLst>
      <p:ext uri="{BB962C8B-B14F-4D97-AF65-F5344CB8AC3E}">
        <p14:creationId xmlns:p14="http://schemas.microsoft.com/office/powerpoint/2010/main" val="2068347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B8E364-10E9-810E-33A2-9250F8621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76" y="1714260"/>
            <a:ext cx="10726647" cy="4666875"/>
          </a:xfrm>
          <a:prstGeom prst="rect">
            <a:avLst/>
          </a:prstGeom>
        </p:spPr>
      </p:pic>
      <p:sp>
        <p:nvSpPr>
          <p:cNvPr id="4" name="TextBox 3">
            <a:extLst>
              <a:ext uri="{FF2B5EF4-FFF2-40B4-BE49-F238E27FC236}">
                <a16:creationId xmlns:a16="http://schemas.microsoft.com/office/drawing/2014/main" id="{01D7F52C-5F6E-2233-8599-63582A01646B}"/>
              </a:ext>
            </a:extLst>
          </p:cNvPr>
          <p:cNvSpPr txBox="1"/>
          <p:nvPr/>
        </p:nvSpPr>
        <p:spPr>
          <a:xfrm>
            <a:off x="0" y="171443"/>
            <a:ext cx="12005187" cy="707886"/>
          </a:xfrm>
          <a:prstGeom prst="rect">
            <a:avLst/>
          </a:prstGeom>
          <a:noFill/>
        </p:spPr>
        <p:txBody>
          <a:bodyPr wrap="square" rtlCol="0">
            <a:spAutoFit/>
          </a:bodyPr>
          <a:lstStyle/>
          <a:p>
            <a:pPr algn="ctr"/>
            <a:r>
              <a:rPr lang="en-US" sz="4000" dirty="0"/>
              <a:t>Movies Links</a:t>
            </a:r>
            <a:endParaRPr lang="en-IN" sz="4000" dirty="0"/>
          </a:p>
        </p:txBody>
      </p:sp>
    </p:spTree>
    <p:extLst>
      <p:ext uri="{BB962C8B-B14F-4D97-AF65-F5344CB8AC3E}">
        <p14:creationId xmlns:p14="http://schemas.microsoft.com/office/powerpoint/2010/main" val="935316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8913DF-5E61-F0EF-B667-7B8F3F53E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062" y="1081513"/>
            <a:ext cx="10191257" cy="5805948"/>
          </a:xfrm>
          <a:prstGeom prst="rect">
            <a:avLst/>
          </a:prstGeom>
        </p:spPr>
      </p:pic>
      <p:sp>
        <p:nvSpPr>
          <p:cNvPr id="4" name="TextBox 3">
            <a:extLst>
              <a:ext uri="{FF2B5EF4-FFF2-40B4-BE49-F238E27FC236}">
                <a16:creationId xmlns:a16="http://schemas.microsoft.com/office/drawing/2014/main" id="{66968FFA-62AC-D1A4-CB7B-0597375CC815}"/>
              </a:ext>
            </a:extLst>
          </p:cNvPr>
          <p:cNvSpPr txBox="1"/>
          <p:nvPr/>
        </p:nvSpPr>
        <p:spPr>
          <a:xfrm>
            <a:off x="68826" y="275303"/>
            <a:ext cx="12123174" cy="707886"/>
          </a:xfrm>
          <a:prstGeom prst="rect">
            <a:avLst/>
          </a:prstGeom>
          <a:noFill/>
        </p:spPr>
        <p:txBody>
          <a:bodyPr wrap="square" rtlCol="0">
            <a:spAutoFit/>
          </a:bodyPr>
          <a:lstStyle/>
          <a:p>
            <a:pPr algn="ctr"/>
            <a:r>
              <a:rPr lang="en-US" sz="4000" dirty="0"/>
              <a:t>Output</a:t>
            </a:r>
            <a:endParaRPr lang="en-IN" sz="4000" dirty="0"/>
          </a:p>
        </p:txBody>
      </p:sp>
    </p:spTree>
    <p:extLst>
      <p:ext uri="{BB962C8B-B14F-4D97-AF65-F5344CB8AC3E}">
        <p14:creationId xmlns:p14="http://schemas.microsoft.com/office/powerpoint/2010/main" val="230344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6158B3-5589-23EE-2033-4545CC630475}"/>
              </a:ext>
            </a:extLst>
          </p:cNvPr>
          <p:cNvSpPr txBox="1"/>
          <p:nvPr/>
        </p:nvSpPr>
        <p:spPr>
          <a:xfrm>
            <a:off x="833120" y="2052320"/>
            <a:ext cx="8321040" cy="2646878"/>
          </a:xfrm>
          <a:prstGeom prst="rect">
            <a:avLst/>
          </a:prstGeom>
          <a:noFill/>
        </p:spPr>
        <p:txBody>
          <a:bodyPr wrap="square">
            <a:spAutoFit/>
          </a:bodyPr>
          <a:lstStyle/>
          <a:p>
            <a:r>
              <a:rPr lang="en-US" sz="2000" b="1" dirty="0">
                <a:solidFill>
                  <a:srgbClr val="00B0F0"/>
                </a:solidFill>
              </a:rPr>
              <a:t>Synopsis</a:t>
            </a:r>
            <a:r>
              <a:rPr lang="en-US" b="1" dirty="0">
                <a:solidFill>
                  <a:srgbClr val="00B0F0"/>
                </a:solidFill>
              </a:rPr>
              <a:t>: Movie Recommendation Based On Emotions</a:t>
            </a:r>
          </a:p>
          <a:p>
            <a:endParaRPr lang="en-US" b="1" dirty="0">
              <a:solidFill>
                <a:srgbClr val="00B0F0"/>
              </a:solidFill>
            </a:endParaRPr>
          </a:p>
          <a:p>
            <a:r>
              <a:rPr lang="en-US" sz="1600" b="1" dirty="0"/>
              <a:t>The Emotion-Based Movie Recommendation System is a personalized recommendation system that suggests movies based on a user's emotional state. The system uses natural language processing (NLP) and machine learning techniques to analyze user emotions and movie metadata.</a:t>
            </a:r>
          </a:p>
          <a:p>
            <a:endParaRPr lang="en-US" sz="1600" b="1" dirty="0"/>
          </a:p>
          <a:p>
            <a:r>
              <a:rPr lang="en-US" sz="1600" b="1" dirty="0"/>
              <a:t>Improved user experience, increased user engagement, and a competitive advantage for streaming services and entertainment companies.</a:t>
            </a:r>
          </a:p>
          <a:p>
            <a:endParaRPr lang="en-US" sz="1600" b="1" dirty="0"/>
          </a:p>
        </p:txBody>
      </p:sp>
      <p:sp>
        <p:nvSpPr>
          <p:cNvPr id="4" name="TextBox 3">
            <a:extLst>
              <a:ext uri="{FF2B5EF4-FFF2-40B4-BE49-F238E27FC236}">
                <a16:creationId xmlns:a16="http://schemas.microsoft.com/office/drawing/2014/main" id="{0A888CEB-B466-E069-059C-5EEAFDA27288}"/>
              </a:ext>
            </a:extLst>
          </p:cNvPr>
          <p:cNvSpPr txBox="1"/>
          <p:nvPr/>
        </p:nvSpPr>
        <p:spPr>
          <a:xfrm>
            <a:off x="723900" y="599440"/>
            <a:ext cx="10744200" cy="707886"/>
          </a:xfrm>
          <a:prstGeom prst="rect">
            <a:avLst/>
          </a:prstGeom>
          <a:noFill/>
        </p:spPr>
        <p:txBody>
          <a:bodyPr wrap="square" rtlCol="0">
            <a:spAutoFit/>
          </a:bodyPr>
          <a:lstStyle/>
          <a:p>
            <a:pPr algn="ctr"/>
            <a:r>
              <a:rPr lang="en-US" sz="4000" dirty="0"/>
              <a:t>Synopsis</a:t>
            </a:r>
            <a:endParaRPr lang="en-IN" sz="4000" dirty="0"/>
          </a:p>
        </p:txBody>
      </p:sp>
    </p:spTree>
    <p:extLst>
      <p:ext uri="{BB962C8B-B14F-4D97-AF65-F5344CB8AC3E}">
        <p14:creationId xmlns:p14="http://schemas.microsoft.com/office/powerpoint/2010/main" val="2997569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E5224-DDC9-B329-9ACF-EB640EBEED5E}"/>
              </a:ext>
            </a:extLst>
          </p:cNvPr>
          <p:cNvSpPr txBox="1"/>
          <p:nvPr/>
        </p:nvSpPr>
        <p:spPr>
          <a:xfrm>
            <a:off x="726440" y="629920"/>
            <a:ext cx="10739120" cy="3477875"/>
          </a:xfrm>
          <a:prstGeom prst="rect">
            <a:avLst/>
          </a:prstGeom>
          <a:noFill/>
        </p:spPr>
        <p:txBody>
          <a:bodyPr wrap="square" rtlCol="0">
            <a:spAutoFit/>
          </a:bodyPr>
          <a:lstStyle/>
          <a:p>
            <a:pPr algn="ctr"/>
            <a:r>
              <a:rPr lang="en-US" sz="4000" dirty="0"/>
              <a:t>Expected Conclusion</a:t>
            </a:r>
          </a:p>
          <a:p>
            <a:pPr algn="ctr"/>
            <a:endParaRPr lang="en-US" sz="4000" dirty="0"/>
          </a:p>
          <a:p>
            <a:pPr algn="ctr"/>
            <a:endParaRPr lang="en-US" sz="4000" dirty="0"/>
          </a:p>
          <a:p>
            <a:pPr algn="ctr"/>
            <a:r>
              <a:rPr lang="en-US" sz="2000" dirty="0"/>
              <a:t>The Emotion-Based Movie Recommendation System offers a groundbreaking approach to personalized movie recommendations, leveraging natural language processing and machine learning techniques to analyze user emotions and movie metadata. By providing users with emotionally resonant movie suggestions, this system has the potential to revolutionize the way we interact with movies and streaming services.</a:t>
            </a:r>
            <a:endParaRPr lang="en-IN" sz="2000" dirty="0"/>
          </a:p>
        </p:txBody>
      </p:sp>
    </p:spTree>
    <p:extLst>
      <p:ext uri="{BB962C8B-B14F-4D97-AF65-F5344CB8AC3E}">
        <p14:creationId xmlns:p14="http://schemas.microsoft.com/office/powerpoint/2010/main" val="1324532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6B99DD-C73E-85B1-8AD9-159ED44DADAE}"/>
              </a:ext>
            </a:extLst>
          </p:cNvPr>
          <p:cNvGraphicFramePr>
            <a:graphicFrameLocks noGrp="1"/>
          </p:cNvGraphicFramePr>
          <p:nvPr>
            <p:extLst>
              <p:ext uri="{D42A27DB-BD31-4B8C-83A1-F6EECF244321}">
                <p14:modId xmlns:p14="http://schemas.microsoft.com/office/powerpoint/2010/main" val="4096588200"/>
              </p:ext>
            </p:extLst>
          </p:nvPr>
        </p:nvGraphicFramePr>
        <p:xfrm>
          <a:off x="782320" y="680720"/>
          <a:ext cx="10058400" cy="4983162"/>
        </p:xfrm>
        <a:graphic>
          <a:graphicData uri="http://schemas.openxmlformats.org/drawingml/2006/table">
            <a:tbl>
              <a:tblPr/>
              <a:tblGrid>
                <a:gridCol w="5029200">
                  <a:extLst>
                    <a:ext uri="{9D8B030D-6E8A-4147-A177-3AD203B41FA5}">
                      <a16:colId xmlns:a16="http://schemas.microsoft.com/office/drawing/2014/main" val="4232701121"/>
                    </a:ext>
                  </a:extLst>
                </a:gridCol>
                <a:gridCol w="5029200">
                  <a:extLst>
                    <a:ext uri="{9D8B030D-6E8A-4147-A177-3AD203B41FA5}">
                      <a16:colId xmlns:a16="http://schemas.microsoft.com/office/drawing/2014/main" val="3852044248"/>
                    </a:ext>
                  </a:extLst>
                </a:gridCol>
              </a:tblGrid>
              <a:tr h="60325">
                <a:tc>
                  <a:txBody>
                    <a:bodyPr/>
                    <a:lstStyle/>
                    <a:p>
                      <a:endParaRPr lang="en-IN" sz="200" dirty="0"/>
                    </a:p>
                  </a:txBody>
                  <a:tcPr marL="9701" marR="9701" marT="4851" marB="4851" anchor="ctr">
                    <a:lnL>
                      <a:noFill/>
                    </a:lnL>
                    <a:lnR>
                      <a:noFill/>
                    </a:lnR>
                    <a:lnT>
                      <a:noFill/>
                    </a:lnT>
                    <a:lnB>
                      <a:noFill/>
                    </a:lnB>
                    <a:noFill/>
                  </a:tcPr>
                </a:tc>
                <a:tc>
                  <a:txBody>
                    <a:bodyPr/>
                    <a:lstStyle/>
                    <a:p>
                      <a:endParaRPr lang="en-IN" sz="200"/>
                    </a:p>
                  </a:txBody>
                  <a:tcPr marL="9701" marR="9701" marT="4851" marB="4851" anchor="ctr">
                    <a:lnL>
                      <a:noFill/>
                    </a:lnL>
                    <a:lnR>
                      <a:noFill/>
                    </a:lnR>
                    <a:lnT>
                      <a:noFill/>
                    </a:lnT>
                    <a:lnB>
                      <a:noFill/>
                    </a:lnB>
                    <a:noFill/>
                  </a:tcPr>
                </a:tc>
                <a:extLst>
                  <a:ext uri="{0D108BD9-81ED-4DB2-BD59-A6C34878D82A}">
                    <a16:rowId xmlns:a16="http://schemas.microsoft.com/office/drawing/2014/main" val="1129086727"/>
                  </a:ext>
                </a:extLst>
              </a:tr>
              <a:tr h="364115">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072842304"/>
                  </a:ext>
                </a:extLst>
              </a:tr>
              <a:tr h="320422">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1459555542"/>
                  </a:ext>
                </a:extLst>
              </a:tr>
              <a:tr h="407809">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2159816852"/>
                  </a:ext>
                </a:extLst>
              </a:tr>
              <a:tr h="451503">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423474760"/>
                  </a:ext>
                </a:extLst>
              </a:tr>
              <a:tr h="495196">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1761054735"/>
                  </a:ext>
                </a:extLst>
              </a:tr>
              <a:tr h="451503">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654661745"/>
                  </a:ext>
                </a:extLst>
              </a:tr>
              <a:tr h="538890">
                <a:tc>
                  <a:txBody>
                    <a:bodyPr/>
                    <a:lstStyle/>
                    <a:p>
                      <a:endParaRPr lang="en-US"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00809111"/>
                  </a:ext>
                </a:extLst>
              </a:tr>
              <a:tr h="451503">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4180994473"/>
                  </a:ext>
                </a:extLst>
              </a:tr>
              <a:tr h="669972">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240256090"/>
                  </a:ext>
                </a:extLst>
              </a:tr>
              <a:tr h="364115">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dirty="0"/>
                    </a:p>
                  </a:txBody>
                  <a:tcPr marL="9701" marR="9701" marT="4851" marB="4851" anchor="ctr">
                    <a:lnL>
                      <a:noFill/>
                    </a:lnL>
                    <a:lnR>
                      <a:noFill/>
                    </a:lnR>
                    <a:lnT>
                      <a:noFill/>
                    </a:lnT>
                    <a:lnB>
                      <a:noFill/>
                    </a:lnB>
                    <a:noFill/>
                  </a:tcPr>
                </a:tc>
                <a:extLst>
                  <a:ext uri="{0D108BD9-81ED-4DB2-BD59-A6C34878D82A}">
                    <a16:rowId xmlns:a16="http://schemas.microsoft.com/office/drawing/2014/main" val="37165591"/>
                  </a:ext>
                </a:extLst>
              </a:tr>
              <a:tr h="407809">
                <a:tc>
                  <a:txBody>
                    <a:bodyPr/>
                    <a:lstStyle/>
                    <a:p>
                      <a:endParaRPr lang="en-IN" sz="200" dirty="0"/>
                    </a:p>
                  </a:txBody>
                  <a:tcPr marL="9701" marR="9701" marT="4851" marB="4851" anchor="ctr">
                    <a:lnL>
                      <a:noFill/>
                    </a:lnL>
                    <a:lnR>
                      <a:noFill/>
                    </a:lnR>
                    <a:lnT>
                      <a:noFill/>
                    </a:lnT>
                    <a:lnB>
                      <a:noFill/>
                    </a:lnB>
                    <a:noFill/>
                  </a:tcPr>
                </a:tc>
                <a:tc>
                  <a:txBody>
                    <a:bodyPr/>
                    <a:lstStyle/>
                    <a:p>
                      <a:endParaRPr lang="en-IN" sz="200" dirty="0"/>
                    </a:p>
                  </a:txBody>
                  <a:tcPr marL="9701" marR="9701" marT="4851" marB="4851" anchor="ctr">
                    <a:lnL>
                      <a:noFill/>
                    </a:lnL>
                    <a:lnR>
                      <a:noFill/>
                    </a:lnR>
                    <a:lnT>
                      <a:noFill/>
                    </a:lnT>
                    <a:lnB>
                      <a:noFill/>
                    </a:lnB>
                    <a:noFill/>
                  </a:tcPr>
                </a:tc>
                <a:extLst>
                  <a:ext uri="{0D108BD9-81ED-4DB2-BD59-A6C34878D82A}">
                    <a16:rowId xmlns:a16="http://schemas.microsoft.com/office/drawing/2014/main" val="1849291136"/>
                  </a:ext>
                </a:extLst>
              </a:tr>
            </a:tbl>
          </a:graphicData>
        </a:graphic>
      </p:graphicFrame>
      <p:sp>
        <p:nvSpPr>
          <p:cNvPr id="5" name="TextBox 4">
            <a:extLst>
              <a:ext uri="{FF2B5EF4-FFF2-40B4-BE49-F238E27FC236}">
                <a16:creationId xmlns:a16="http://schemas.microsoft.com/office/drawing/2014/main" id="{26F09E8C-4123-2706-B28B-C3A7F0C4D70B}"/>
              </a:ext>
            </a:extLst>
          </p:cNvPr>
          <p:cNvSpPr txBox="1"/>
          <p:nvPr/>
        </p:nvSpPr>
        <p:spPr>
          <a:xfrm>
            <a:off x="690880" y="479177"/>
            <a:ext cx="10810240" cy="707886"/>
          </a:xfrm>
          <a:prstGeom prst="rect">
            <a:avLst/>
          </a:prstGeom>
          <a:noFill/>
        </p:spPr>
        <p:txBody>
          <a:bodyPr wrap="square" rtlCol="0">
            <a:spAutoFit/>
          </a:bodyPr>
          <a:lstStyle/>
          <a:p>
            <a:pPr algn="ctr"/>
            <a:r>
              <a:rPr lang="en-US" sz="4000" dirty="0"/>
              <a:t>Research Paper</a:t>
            </a:r>
            <a:endParaRPr lang="en-IN" sz="4000" dirty="0"/>
          </a:p>
        </p:txBody>
      </p:sp>
      <p:sp>
        <p:nvSpPr>
          <p:cNvPr id="8" name="TextBox 7">
            <a:extLst>
              <a:ext uri="{FF2B5EF4-FFF2-40B4-BE49-F238E27FC236}">
                <a16:creationId xmlns:a16="http://schemas.microsoft.com/office/drawing/2014/main" id="{921D2BBA-76FD-C980-5224-76AE73773C0E}"/>
              </a:ext>
            </a:extLst>
          </p:cNvPr>
          <p:cNvSpPr txBox="1"/>
          <p:nvPr/>
        </p:nvSpPr>
        <p:spPr>
          <a:xfrm>
            <a:off x="782320" y="1595482"/>
            <a:ext cx="9769004" cy="2585323"/>
          </a:xfrm>
          <a:prstGeom prst="rect">
            <a:avLst/>
          </a:prstGeom>
          <a:noFill/>
        </p:spPr>
        <p:txBody>
          <a:bodyPr wrap="square" rtlCol="0">
            <a:spAutoFit/>
          </a:bodyPr>
          <a:lstStyle/>
          <a:p>
            <a:r>
              <a:rPr lang="en-US" dirty="0"/>
              <a:t>1."Movie Recommendation System Based on Collaborative Filtering" by J. Lee et al. (2019)</a:t>
            </a:r>
          </a:p>
          <a:p>
            <a:endParaRPr lang="en-US" dirty="0"/>
          </a:p>
          <a:p>
            <a:r>
              <a:rPr lang="en-US" dirty="0"/>
              <a:t>2. "Content-Based Movie Recommendation System Using Deep Learning" by Y. Zhang et al. (2020)</a:t>
            </a:r>
          </a:p>
          <a:p>
            <a:endParaRPr lang="en-US" dirty="0"/>
          </a:p>
          <a:p>
            <a:r>
              <a:rPr lang="en-US" dirty="0"/>
              <a:t>3."Emotion-Based Recommendation System for Movies" by S. K. Goyal et al. (2018)</a:t>
            </a:r>
          </a:p>
          <a:p>
            <a:endParaRPr lang="en-US" dirty="0"/>
          </a:p>
          <a:p>
            <a:r>
              <a:rPr lang="en-US" dirty="0"/>
              <a:t>4. "Affective Recommendation Systems: A Survey" by F. Zhang et al. (2019)</a:t>
            </a:r>
            <a:endParaRPr lang="en-IN" dirty="0"/>
          </a:p>
        </p:txBody>
      </p:sp>
    </p:spTree>
    <p:extLst>
      <p:ext uri="{BB962C8B-B14F-4D97-AF65-F5344CB8AC3E}">
        <p14:creationId xmlns:p14="http://schemas.microsoft.com/office/powerpoint/2010/main" val="36907744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424</TotalTime>
  <Words>1179</Words>
  <Application>Microsoft Office PowerPoint</Application>
  <PresentationFormat>Widescreen</PresentationFormat>
  <Paragraphs>133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Garamond</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Ghorpade</dc:creator>
  <cp:lastModifiedBy>sahil pisal</cp:lastModifiedBy>
  <cp:revision>10</cp:revision>
  <dcterms:created xsi:type="dcterms:W3CDTF">2025-02-16T09:15:10Z</dcterms:created>
  <dcterms:modified xsi:type="dcterms:W3CDTF">2025-03-23T04:59:14Z</dcterms:modified>
</cp:coreProperties>
</file>
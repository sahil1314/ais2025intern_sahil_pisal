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2" r:id="rId1"/>
  </p:sldMasterIdLst>
  <p:notesMasterIdLst>
    <p:notesMasterId r:id="rId18"/>
  </p:notesMasterIdLst>
  <p:sldIdLst>
    <p:sldId id="257" r:id="rId2"/>
    <p:sldId id="258" r:id="rId3"/>
    <p:sldId id="259" r:id="rId4"/>
    <p:sldId id="260" r:id="rId5"/>
    <p:sldId id="261" r:id="rId6"/>
    <p:sldId id="262" r:id="rId7"/>
    <p:sldId id="263" r:id="rId8"/>
    <p:sldId id="264" r:id="rId9"/>
    <p:sldId id="266" r:id="rId10"/>
    <p:sldId id="267" r:id="rId11"/>
    <p:sldId id="272" r:id="rId12"/>
    <p:sldId id="273" r:id="rId13"/>
    <p:sldId id="274" r:id="rId14"/>
    <p:sldId id="268" r:id="rId15"/>
    <p:sldId id="269"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783A36-CEF4-4074-A138-E8CD60DE8CC1}" type="datetimeFigureOut">
              <a:rPr lang="en-IN" smtClean="0"/>
              <a:t>23-03-2025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BD2892-8A5C-494A-831C-A4798CBF9F5D}" type="slidenum">
              <a:rPr lang="en-IN" smtClean="0"/>
              <a:t>‹#›</a:t>
            </a:fld>
            <a:endParaRPr lang="en-IN"/>
          </a:p>
        </p:txBody>
      </p:sp>
    </p:spTree>
    <p:extLst>
      <p:ext uri="{BB962C8B-B14F-4D97-AF65-F5344CB8AC3E}">
        <p14:creationId xmlns:p14="http://schemas.microsoft.com/office/powerpoint/2010/main" val="22238682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2867239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37150734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30562405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9FB35D-36E1-47D7-AE69-0B3188E7CAB7}" type="datetimeFigureOut">
              <a:rPr lang="en-IN" smtClean="0"/>
              <a:t>23-03-2025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2082756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9FB35D-36E1-47D7-AE69-0B3188E7CAB7}" type="datetimeFigureOut">
              <a:rPr lang="en-IN" smtClean="0"/>
              <a:t>23-03-2025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38326674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9FB35D-36E1-47D7-AE69-0B3188E7CAB7}" type="datetimeFigureOut">
              <a:rPr lang="en-IN" smtClean="0"/>
              <a:t>23-03-2025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37175063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9FB35D-36E1-47D7-AE69-0B3188E7CAB7}" type="datetimeFigureOut">
              <a:rPr lang="en-IN" smtClean="0"/>
              <a:t>23-03-2025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2533180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99FB35D-36E1-47D7-AE69-0B3188E7CAB7}" type="datetimeFigureOut">
              <a:rPr lang="en-IN" smtClean="0"/>
              <a:t>23-03-2025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1182476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9FB35D-36E1-47D7-AE69-0B3188E7CAB7}" type="datetimeFigureOut">
              <a:rPr lang="en-IN" smtClean="0"/>
              <a:t>23-03-2025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3215948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1256666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0495911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30800737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7841122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40467628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11791066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FB35D-36E1-47D7-AE69-0B3188E7CAB7}" type="datetimeFigureOut">
              <a:rPr lang="en-IN" smtClean="0"/>
              <a:t>23-03-2025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637794C-77AF-4A19-B0F3-8E0B83B23BB7}" type="slidenum">
              <a:rPr lang="en-IN" smtClean="0"/>
              <a:t>‹#›</a:t>
            </a:fld>
            <a:endParaRPr lang="en-IN"/>
          </a:p>
        </p:txBody>
      </p:sp>
    </p:spTree>
    <p:extLst>
      <p:ext uri="{BB962C8B-B14F-4D97-AF65-F5344CB8AC3E}">
        <p14:creationId xmlns:p14="http://schemas.microsoft.com/office/powerpoint/2010/main" val="2828321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99FB35D-36E1-47D7-AE69-0B3188E7CAB7}" type="datetimeFigureOut">
              <a:rPr lang="en-IN" smtClean="0"/>
              <a:t>23-03-2025</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9637794C-77AF-4A19-B0F3-8E0B83B23BB7}" type="slidenum">
              <a:rPr lang="en-IN" smtClean="0"/>
              <a:t>‹#›</a:t>
            </a:fld>
            <a:endParaRPr lang="en-IN"/>
          </a:p>
        </p:txBody>
      </p:sp>
    </p:spTree>
    <p:extLst>
      <p:ext uri="{BB962C8B-B14F-4D97-AF65-F5344CB8AC3E}">
        <p14:creationId xmlns:p14="http://schemas.microsoft.com/office/powerpoint/2010/main" val="2155895562"/>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 id="2147483774" r:id="rId12"/>
    <p:sldLayoutId id="2147483775" r:id="rId13"/>
    <p:sldLayoutId id="2147483776" r:id="rId14"/>
    <p:sldLayoutId id="2147483777" r:id="rId15"/>
    <p:sldLayoutId id="214748377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C2B9AF5-0B29-784E-DF78-A2125AF72EA8}"/>
              </a:ext>
            </a:extLst>
          </p:cNvPr>
          <p:cNvSpPr txBox="1"/>
          <p:nvPr/>
        </p:nvSpPr>
        <p:spPr>
          <a:xfrm>
            <a:off x="707923" y="707921"/>
            <a:ext cx="10854813" cy="5324535"/>
          </a:xfrm>
          <a:prstGeom prst="rect">
            <a:avLst/>
          </a:prstGeom>
          <a:noFill/>
        </p:spPr>
        <p:txBody>
          <a:bodyPr wrap="square" rtlCol="0">
            <a:spAutoFit/>
          </a:bodyPr>
          <a:lstStyle/>
          <a:p>
            <a:pPr algn="ctr"/>
            <a:r>
              <a:rPr lang="en-US" sz="4000" dirty="0"/>
              <a:t>COLOR DETECTION</a:t>
            </a:r>
          </a:p>
          <a:p>
            <a:endParaRPr lang="en-US" sz="4000" dirty="0"/>
          </a:p>
          <a:p>
            <a:r>
              <a:rPr lang="en-US" sz="2000" dirty="0">
                <a:solidFill>
                  <a:srgbClr val="00B0F0"/>
                </a:solidFill>
              </a:rPr>
              <a:t>Presented By : </a:t>
            </a:r>
            <a:r>
              <a:rPr lang="en-US" sz="2000" dirty="0"/>
              <a:t>Sahil Vijay Pisal</a:t>
            </a:r>
          </a:p>
          <a:p>
            <a:r>
              <a:rPr lang="en-US" sz="2000" dirty="0">
                <a:solidFill>
                  <a:srgbClr val="00B0F0"/>
                </a:solidFill>
              </a:rPr>
              <a:t>Date</a:t>
            </a:r>
            <a:r>
              <a:rPr lang="en-US" sz="2000" dirty="0"/>
              <a:t> : 16/02/2025</a:t>
            </a:r>
          </a:p>
          <a:p>
            <a:endParaRPr lang="en-US" sz="2000" dirty="0"/>
          </a:p>
          <a:p>
            <a:endParaRPr lang="en-US" sz="2000" dirty="0"/>
          </a:p>
          <a:p>
            <a:endParaRPr lang="en-US" sz="2000" dirty="0"/>
          </a:p>
          <a:p>
            <a:r>
              <a:rPr lang="en-US" sz="2000" dirty="0">
                <a:solidFill>
                  <a:srgbClr val="00B0F0"/>
                </a:solidFill>
              </a:rPr>
              <a:t>Project guide</a:t>
            </a:r>
            <a:r>
              <a:rPr lang="en-US" sz="2000" dirty="0"/>
              <a:t>: </a:t>
            </a:r>
            <a:r>
              <a:rPr lang="en-US" sz="2000" b="1" dirty="0"/>
              <a:t>Prof. Prajyot Patil</a:t>
            </a:r>
          </a:p>
          <a:p>
            <a:endParaRPr lang="en-US" sz="2000" dirty="0"/>
          </a:p>
          <a:p>
            <a:r>
              <a:rPr lang="en-US" sz="2000" dirty="0">
                <a:solidFill>
                  <a:srgbClr val="00B0F0"/>
                </a:solidFill>
              </a:rPr>
              <a:t>Team Members </a:t>
            </a:r>
            <a:r>
              <a:rPr lang="en-US" sz="2000" dirty="0"/>
              <a:t>:</a:t>
            </a:r>
          </a:p>
          <a:p>
            <a:pPr marL="342900" indent="-342900">
              <a:buFont typeface="Arial" panose="020B0604020202020204" pitchFamily="34" charset="0"/>
              <a:buChar char="•"/>
            </a:pPr>
            <a:r>
              <a:rPr lang="en-US" sz="2000" dirty="0"/>
              <a:t>Om </a:t>
            </a:r>
            <a:r>
              <a:rPr lang="en-US" sz="2000" dirty="0" err="1"/>
              <a:t>Nandkumar</a:t>
            </a:r>
            <a:r>
              <a:rPr lang="en-US" sz="2000" dirty="0"/>
              <a:t> Ghorpade</a:t>
            </a:r>
          </a:p>
          <a:p>
            <a:pPr marL="342900" indent="-342900">
              <a:buFont typeface="Arial" panose="020B0604020202020204" pitchFamily="34" charset="0"/>
              <a:buChar char="•"/>
            </a:pPr>
            <a:r>
              <a:rPr lang="en-US" sz="2000" dirty="0"/>
              <a:t>Sahil Vijay </a:t>
            </a:r>
            <a:r>
              <a:rPr lang="en-US" sz="2000" dirty="0" err="1"/>
              <a:t>Pisal</a:t>
            </a:r>
            <a:endParaRPr lang="en-US" sz="2000" dirty="0"/>
          </a:p>
          <a:p>
            <a:pPr marL="342900" indent="-342900">
              <a:buFont typeface="Arial" panose="020B0604020202020204" pitchFamily="34" charset="0"/>
              <a:buChar char="•"/>
            </a:pPr>
            <a:r>
              <a:rPr lang="en-US" sz="2000" dirty="0"/>
              <a:t>Vaishnav </a:t>
            </a:r>
            <a:r>
              <a:rPr lang="en-US" sz="2000" dirty="0" err="1"/>
              <a:t>Ingale</a:t>
            </a:r>
            <a:endParaRPr lang="en-US" sz="2000" dirty="0"/>
          </a:p>
          <a:p>
            <a:pPr algn="ctr"/>
            <a:endParaRPr lang="en-IN" sz="4000" dirty="0"/>
          </a:p>
        </p:txBody>
      </p:sp>
      <p:pic>
        <p:nvPicPr>
          <p:cNvPr id="3" name="Picture 2">
            <a:extLst>
              <a:ext uri="{FF2B5EF4-FFF2-40B4-BE49-F238E27FC236}">
                <a16:creationId xmlns:a16="http://schemas.microsoft.com/office/drawing/2014/main" id="{C34FAFA6-21D3-1A05-9A26-8E9E7FCDB8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48381" y="1615731"/>
            <a:ext cx="1905000" cy="1905000"/>
          </a:xfrm>
          <a:prstGeom prst="rect">
            <a:avLst/>
          </a:prstGeom>
        </p:spPr>
      </p:pic>
    </p:spTree>
    <p:extLst>
      <p:ext uri="{BB962C8B-B14F-4D97-AF65-F5344CB8AC3E}">
        <p14:creationId xmlns:p14="http://schemas.microsoft.com/office/powerpoint/2010/main" val="1610946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98F87AA-7E13-79D8-8068-BA944A3B6D56}"/>
              </a:ext>
            </a:extLst>
          </p:cNvPr>
          <p:cNvSpPr txBox="1"/>
          <p:nvPr/>
        </p:nvSpPr>
        <p:spPr>
          <a:xfrm>
            <a:off x="629265" y="619431"/>
            <a:ext cx="10972800" cy="5262979"/>
          </a:xfrm>
          <a:prstGeom prst="rect">
            <a:avLst/>
          </a:prstGeom>
          <a:noFill/>
        </p:spPr>
        <p:txBody>
          <a:bodyPr wrap="square" rtlCol="0">
            <a:spAutoFit/>
          </a:bodyPr>
          <a:lstStyle/>
          <a:p>
            <a:pPr algn="ctr"/>
            <a:r>
              <a:rPr lang="en-US" sz="4000" dirty="0"/>
              <a:t>Project Overview</a:t>
            </a:r>
          </a:p>
          <a:p>
            <a:r>
              <a:rPr lang="en-US" sz="2000" dirty="0">
                <a:solidFill>
                  <a:srgbClr val="00B0F0"/>
                </a:solidFill>
              </a:rPr>
              <a:t>Project Description</a:t>
            </a:r>
          </a:p>
          <a:p>
            <a:r>
              <a:rPr lang="en-US" sz="1600" dirty="0"/>
              <a:t>This project involves developing a deep learning model capable of detecting and classifying colors in images. The model is trained to recognize various colors, identify their dominant hues, and classify them accordingly. The primary goal is to build a system that can accurately detect and classify colors in real-time or static images, which can be applied in multiple fields, including computer vision, digital art, fashion, and design.</a:t>
            </a:r>
          </a:p>
          <a:p>
            <a:endParaRPr lang="en-US" sz="1600" dirty="0">
              <a:solidFill>
                <a:srgbClr val="00B0F0"/>
              </a:solidFill>
            </a:endParaRPr>
          </a:p>
          <a:p>
            <a:r>
              <a:rPr lang="en-US" sz="2000" dirty="0">
                <a:solidFill>
                  <a:srgbClr val="00B0F0"/>
                </a:solidFill>
              </a:rPr>
              <a:t>Goal</a:t>
            </a:r>
          </a:p>
          <a:p>
            <a:r>
              <a:rPr lang="en-US" sz="1600" b="1" dirty="0"/>
              <a:t>   1. Develop a color detection system that can analyze and classify the colors present in an image or video.</a:t>
            </a:r>
          </a:p>
          <a:p>
            <a:r>
              <a:rPr lang="en-US" sz="1600" dirty="0">
                <a:solidFill>
                  <a:srgbClr val="00B0F0"/>
                </a:solidFill>
              </a:rPr>
              <a:t>   </a:t>
            </a:r>
            <a:r>
              <a:rPr lang="en-US" sz="1600" b="1" dirty="0"/>
              <a:t>2. Utilize deep learning models for feature extraction and color classification to ensure high accuracy.</a:t>
            </a:r>
            <a:endParaRPr lang="en-US" sz="1600" b="1" dirty="0">
              <a:solidFill>
                <a:srgbClr val="00B0F0"/>
              </a:solidFill>
            </a:endParaRPr>
          </a:p>
          <a:p>
            <a:r>
              <a:rPr lang="en-US" sz="2000" dirty="0">
                <a:solidFill>
                  <a:srgbClr val="00B0F0"/>
                </a:solidFill>
              </a:rPr>
              <a:t>  </a:t>
            </a:r>
            <a:r>
              <a:rPr lang="en-US" sz="1600" b="1" dirty="0"/>
              <a:t>3.Deploy a user-friendly interface for real-time color detection, with the ability to visualize color labels and percentages.                 </a:t>
            </a:r>
          </a:p>
          <a:p>
            <a:r>
              <a:rPr lang="en-US" sz="2000" dirty="0">
                <a:solidFill>
                  <a:srgbClr val="00B0F0"/>
                </a:solidFill>
              </a:rPr>
              <a:t> </a:t>
            </a:r>
          </a:p>
          <a:p>
            <a:r>
              <a:rPr lang="en-US" sz="2000" dirty="0">
                <a:solidFill>
                  <a:srgbClr val="00B0F0"/>
                </a:solidFill>
              </a:rPr>
              <a:t>Context</a:t>
            </a:r>
          </a:p>
          <a:p>
            <a:r>
              <a:rPr lang="en-US" sz="1600" dirty="0"/>
              <a:t>The context of the Color Detection Deep Learning Project is rooted in the field of computer vision, where the goal is to enable machines to understand and process images the way humans perceive colors. Detecting and classifying colors from images using deep learning models opens up a wide range of real-world applications, from enhancing digital experiences to improving accessibility and design tasks.</a:t>
            </a:r>
            <a:endParaRPr lang="en-US" sz="1600" dirty="0">
              <a:solidFill>
                <a:srgbClr val="00B0F0"/>
              </a:solidFill>
            </a:endParaRPr>
          </a:p>
          <a:p>
            <a:endParaRPr lang="en-IN" sz="2000" dirty="0"/>
          </a:p>
        </p:txBody>
      </p:sp>
    </p:spTree>
    <p:extLst>
      <p:ext uri="{BB962C8B-B14F-4D97-AF65-F5344CB8AC3E}">
        <p14:creationId xmlns:p14="http://schemas.microsoft.com/office/powerpoint/2010/main" val="22210749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87CB7A-C6D1-F8B9-5911-CA91F5B7BA61}"/>
              </a:ext>
            </a:extLst>
          </p:cNvPr>
          <p:cNvSpPr txBox="1"/>
          <p:nvPr/>
        </p:nvSpPr>
        <p:spPr>
          <a:xfrm>
            <a:off x="680720" y="629920"/>
            <a:ext cx="10688320" cy="4832092"/>
          </a:xfrm>
          <a:prstGeom prst="rect">
            <a:avLst/>
          </a:prstGeom>
          <a:noFill/>
        </p:spPr>
        <p:txBody>
          <a:bodyPr wrap="square" rtlCol="0">
            <a:spAutoFit/>
          </a:bodyPr>
          <a:lstStyle/>
          <a:p>
            <a:pPr algn="ctr"/>
            <a:r>
              <a:rPr lang="en-US" sz="4000" dirty="0"/>
              <a:t>Problem Statement</a:t>
            </a:r>
          </a:p>
          <a:p>
            <a:r>
              <a:rPr lang="en-US" sz="2000" dirty="0">
                <a:solidFill>
                  <a:srgbClr val="00B0F0"/>
                </a:solidFill>
              </a:rPr>
              <a:t>Description:</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Garamond" panose="02020404030301010803"/>
                <a:ea typeface="+mn-ea"/>
                <a:cs typeface="+mn-cs"/>
              </a:rPr>
              <a:t>This project ( color detection)  involves developing a deep learning model capable of detecting and classifying colors in images. The model is trained to recognize various colors, identify their dominant hues, and classify them accordingly. The primary goal is to build a system that can accurately detect and classify colors in real-time or static images, which can be applied in multiple fields, including computer vision, digital art, fashion, and design.</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600" dirty="0">
              <a:solidFill>
                <a:prstClr val="black"/>
              </a:solidFill>
              <a:latin typeface="Garamond" panose="02020404030301010803"/>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2000" dirty="0">
                <a:solidFill>
                  <a:srgbClr val="00B0F0"/>
                </a:solidFill>
                <a:latin typeface="Garamond" panose="02020404030301010803"/>
              </a:rPr>
              <a:t>Issues: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 1.Color Variations Due to Lighting Conditions</a:t>
            </a:r>
          </a:p>
          <a:p>
            <a:pPr marL="0" marR="0" lvl="0" indent="0" algn="l" defTabSz="457200" rtl="0" eaLnBrk="1" fontAlgn="auto" latinLnBrk="0" hangingPunct="1">
              <a:lnSpc>
                <a:spcPct val="100000"/>
              </a:lnSpc>
              <a:spcBef>
                <a:spcPts val="0"/>
              </a:spcBef>
              <a:spcAft>
                <a:spcPts val="0"/>
              </a:spcAft>
              <a:buClrTx/>
              <a:buSzTx/>
              <a:buFontTx/>
              <a:buNone/>
              <a:tabLst/>
              <a:defRPr/>
            </a:pPr>
            <a:r>
              <a:rPr lang="en-IN" sz="1600" dirty="0"/>
              <a:t> 2.Shadows and Image Noise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t> 3.Color Ambiguity and Subtle Variations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00B0F0"/>
              </a:solidFill>
              <a:effectLst/>
              <a:uLnTx/>
              <a:uFillTx/>
              <a:latin typeface="Garamond" panose="02020404030301010803"/>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dirty="0">
                <a:solidFill>
                  <a:srgbClr val="00B0F0"/>
                </a:solidFill>
                <a:latin typeface="Garamond" panose="02020404030301010803"/>
              </a:rPr>
              <a:t>Key Challenges: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b="1" dirty="0"/>
              <a:t>Lighting and Environment:</a:t>
            </a:r>
            <a:r>
              <a:rPr lang="en-US" sz="1600" dirty="0"/>
              <a:t> Handling variations in lighting and shadow in images can lead to incorrect color detection.</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b="1" dirty="0"/>
              <a:t>Color Ambiguity:</a:t>
            </a:r>
            <a:r>
              <a:rPr lang="en-US" sz="1600" dirty="0"/>
              <a:t> Some colors might be difficult to classify due to varying shades and subtle differences.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600" b="1" dirty="0"/>
              <a:t>Model Efficiency:</a:t>
            </a:r>
            <a:r>
              <a:rPr lang="en-US" sz="1600" dirty="0"/>
              <a:t> Real-time applications require optimization to ensure the model runs efficiently on devices with limited resources.</a:t>
            </a:r>
            <a:endParaRPr kumimoji="0" lang="en-US" sz="1600" b="0" i="0" u="none" strike="noStrike" kern="1200" cap="none" spc="0" normalizeH="0" baseline="0" noProof="0" dirty="0">
              <a:ln>
                <a:noFill/>
              </a:ln>
              <a:solidFill>
                <a:srgbClr val="00B0F0"/>
              </a:solidFill>
              <a:effectLst/>
              <a:uLnTx/>
              <a:uFillTx/>
              <a:latin typeface="Garamond" panose="02020404030301010803"/>
              <a:ea typeface="+mn-ea"/>
              <a:cs typeface="+mn-cs"/>
            </a:endParaRPr>
          </a:p>
          <a:p>
            <a:r>
              <a:rPr lang="en-IN" sz="2000" dirty="0">
                <a:solidFill>
                  <a:srgbClr val="00B0F0"/>
                </a:solidFill>
              </a:rPr>
              <a:t>  </a:t>
            </a:r>
          </a:p>
        </p:txBody>
      </p:sp>
    </p:spTree>
    <p:extLst>
      <p:ext uri="{BB962C8B-B14F-4D97-AF65-F5344CB8AC3E}">
        <p14:creationId xmlns:p14="http://schemas.microsoft.com/office/powerpoint/2010/main" val="4150004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340672F-466A-E606-4E65-A87431492A38}"/>
              </a:ext>
            </a:extLst>
          </p:cNvPr>
          <p:cNvSpPr txBox="1"/>
          <p:nvPr/>
        </p:nvSpPr>
        <p:spPr>
          <a:xfrm>
            <a:off x="741680" y="599440"/>
            <a:ext cx="10688320" cy="5632311"/>
          </a:xfrm>
          <a:prstGeom prst="rect">
            <a:avLst/>
          </a:prstGeom>
          <a:noFill/>
        </p:spPr>
        <p:txBody>
          <a:bodyPr wrap="square" rtlCol="0">
            <a:spAutoFit/>
          </a:bodyPr>
          <a:lstStyle/>
          <a:p>
            <a:pPr algn="ctr"/>
            <a:r>
              <a:rPr lang="en-US" sz="4000" dirty="0"/>
              <a:t>Data Related Information</a:t>
            </a:r>
          </a:p>
          <a:p>
            <a:r>
              <a:rPr lang="en-US" sz="2000" dirty="0">
                <a:solidFill>
                  <a:srgbClr val="00B0F0"/>
                </a:solidFill>
              </a:rPr>
              <a:t>Data Structure</a:t>
            </a:r>
          </a:p>
          <a:p>
            <a:r>
              <a:rPr lang="en-IN" sz="1600" dirty="0"/>
              <a:t>1.Data Set Used : </a:t>
            </a:r>
            <a:r>
              <a:rPr lang="en-IN" sz="1600" dirty="0" err="1"/>
              <a:t>colors</a:t>
            </a:r>
            <a:r>
              <a:rPr lang="en-IN" sz="1600" dirty="0"/>
              <a:t> with there </a:t>
            </a:r>
            <a:r>
              <a:rPr lang="en-IN" sz="1600" dirty="0" err="1"/>
              <a:t>color</a:t>
            </a:r>
            <a:r>
              <a:rPr lang="en-IN" sz="1600" dirty="0"/>
              <a:t> code.</a:t>
            </a:r>
          </a:p>
          <a:p>
            <a:r>
              <a:rPr lang="en-IN" sz="1600" dirty="0"/>
              <a:t>2.Number of images : depends upon input.</a:t>
            </a:r>
          </a:p>
          <a:p>
            <a:r>
              <a:rPr lang="en-IN" sz="1600" dirty="0"/>
              <a:t>3.Image dimensions : varying </a:t>
            </a:r>
            <a:r>
              <a:rPr lang="en-IN" sz="1600" dirty="0" err="1"/>
              <a:t>sizes,standard</a:t>
            </a:r>
            <a:r>
              <a:rPr lang="en-IN" sz="1600" dirty="0"/>
              <a:t> image size.</a:t>
            </a:r>
          </a:p>
          <a:p>
            <a:endParaRPr lang="en-IN" sz="1600" dirty="0"/>
          </a:p>
          <a:p>
            <a:r>
              <a:rPr lang="en-IN" sz="2000" dirty="0">
                <a:solidFill>
                  <a:srgbClr val="00B0F0"/>
                </a:solidFill>
              </a:rPr>
              <a:t>Data Representation</a:t>
            </a:r>
          </a:p>
          <a:p>
            <a:r>
              <a:rPr lang="en-IN" sz="1600" dirty="0" err="1"/>
              <a:t>coloumns</a:t>
            </a:r>
            <a:endParaRPr lang="en-IN" sz="1600" dirty="0"/>
          </a:p>
          <a:p>
            <a:r>
              <a:rPr lang="en-IN" sz="1600" dirty="0"/>
              <a:t>      1.csv name.</a:t>
            </a:r>
          </a:p>
          <a:p>
            <a:r>
              <a:rPr lang="en-IN" sz="1600" dirty="0"/>
              <a:t>      2.color code.</a:t>
            </a:r>
          </a:p>
          <a:p>
            <a:r>
              <a:rPr lang="en-IN" sz="1600" dirty="0"/>
              <a:t>      3.corresponding  R,G,B values.</a:t>
            </a:r>
          </a:p>
          <a:p>
            <a:endParaRPr lang="en-IN" sz="1600" dirty="0"/>
          </a:p>
          <a:p>
            <a:r>
              <a:rPr lang="en-IN" sz="2000" dirty="0">
                <a:solidFill>
                  <a:srgbClr val="00B0F0"/>
                </a:solidFill>
              </a:rPr>
              <a:t>Data types</a:t>
            </a:r>
          </a:p>
          <a:p>
            <a:r>
              <a:rPr lang="en-IN" sz="1600" b="1" dirty="0"/>
              <a:t>Categorical</a:t>
            </a:r>
            <a:r>
              <a:rPr lang="en-IN" sz="1600" dirty="0"/>
              <a:t>: </a:t>
            </a:r>
            <a:r>
              <a:rPr lang="en-IN" sz="1600" dirty="0" err="1"/>
              <a:t>color</a:t>
            </a:r>
            <a:r>
              <a:rPr lang="en-IN" sz="1600" dirty="0"/>
              <a:t> name.</a:t>
            </a:r>
          </a:p>
          <a:p>
            <a:r>
              <a:rPr lang="en-IN" sz="1600" b="1" dirty="0"/>
              <a:t>Numerical</a:t>
            </a:r>
            <a:r>
              <a:rPr lang="en-IN" sz="1600" dirty="0"/>
              <a:t>: </a:t>
            </a:r>
            <a:r>
              <a:rPr lang="en-IN" sz="1600" dirty="0" err="1"/>
              <a:t>color</a:t>
            </a:r>
            <a:r>
              <a:rPr lang="en-IN" sz="1600" dirty="0"/>
              <a:t> codes and corresponding R,G,B values.</a:t>
            </a:r>
          </a:p>
          <a:p>
            <a:endParaRPr lang="en-IN" sz="1600" dirty="0"/>
          </a:p>
          <a:p>
            <a:r>
              <a:rPr lang="en-IN" sz="2000" dirty="0">
                <a:solidFill>
                  <a:srgbClr val="00B0F0"/>
                </a:solidFill>
              </a:rPr>
              <a:t>Data pattern and trends</a:t>
            </a:r>
          </a:p>
          <a:p>
            <a:pPr marL="342900" indent="-342900">
              <a:buAutoNum type="arabicPeriod"/>
            </a:pPr>
            <a:r>
              <a:rPr lang="en-US" sz="1600" dirty="0"/>
              <a:t>Color Distribution and Frequency of Occurrence</a:t>
            </a:r>
          </a:p>
          <a:p>
            <a:pPr marL="342900" indent="-342900">
              <a:buAutoNum type="arabicPeriod"/>
            </a:pPr>
            <a:r>
              <a:rPr lang="en-US" sz="1600" dirty="0"/>
              <a:t>HSV Space Patterns (Hue, Saturation, and Value)</a:t>
            </a:r>
          </a:p>
          <a:p>
            <a:pPr marL="342900" indent="-342900">
              <a:buAutoNum type="arabicPeriod"/>
            </a:pPr>
            <a:r>
              <a:rPr lang="en-IN" sz="1600" dirty="0"/>
              <a:t>Lighting and Environmental Conditions</a:t>
            </a:r>
          </a:p>
        </p:txBody>
      </p:sp>
    </p:spTree>
    <p:extLst>
      <p:ext uri="{BB962C8B-B14F-4D97-AF65-F5344CB8AC3E}">
        <p14:creationId xmlns:p14="http://schemas.microsoft.com/office/powerpoint/2010/main" val="26731236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AC386D4-E194-507F-3927-6162B396B257}"/>
              </a:ext>
            </a:extLst>
          </p:cNvPr>
          <p:cNvSpPr txBox="1"/>
          <p:nvPr/>
        </p:nvSpPr>
        <p:spPr>
          <a:xfrm>
            <a:off x="629920" y="660400"/>
            <a:ext cx="10932160" cy="707886"/>
          </a:xfrm>
          <a:prstGeom prst="rect">
            <a:avLst/>
          </a:prstGeom>
          <a:noFill/>
        </p:spPr>
        <p:txBody>
          <a:bodyPr wrap="square" rtlCol="0">
            <a:spAutoFit/>
          </a:bodyPr>
          <a:lstStyle/>
          <a:p>
            <a:pPr algn="ctr"/>
            <a:r>
              <a:rPr lang="en-US" sz="4000" dirty="0"/>
              <a:t>Project Flow</a:t>
            </a:r>
            <a:endParaRPr lang="en-IN" sz="4000" dirty="0"/>
          </a:p>
        </p:txBody>
      </p:sp>
      <p:sp>
        <p:nvSpPr>
          <p:cNvPr id="4" name="AutoShape 4" descr="GitHub - Dartpixel/Color-Detection-using-Python">
            <a:extLst>
              <a:ext uri="{FF2B5EF4-FFF2-40B4-BE49-F238E27FC236}">
                <a16:creationId xmlns:a16="http://schemas.microsoft.com/office/drawing/2014/main" id="{251530E1-83C2-9124-52D3-791E00AEA328}"/>
              </a:ext>
            </a:extLst>
          </p:cNvPr>
          <p:cNvSpPr>
            <a:spLocks noChangeAspect="1" noChangeArrowheads="1"/>
          </p:cNvSpPr>
          <p:nvPr/>
        </p:nvSpPr>
        <p:spPr bwMode="auto">
          <a:xfrm>
            <a:off x="5943600" y="3276600"/>
            <a:ext cx="1310640" cy="131064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a:extLst>
              <a:ext uri="{FF2B5EF4-FFF2-40B4-BE49-F238E27FC236}">
                <a16:creationId xmlns:a16="http://schemas.microsoft.com/office/drawing/2014/main" id="{0AEEDB1C-11B0-512D-BA4E-6D72140396B0}"/>
              </a:ext>
            </a:extLst>
          </p:cNvPr>
          <p:cNvPicPr>
            <a:picLocks noChangeAspect="1"/>
          </p:cNvPicPr>
          <p:nvPr/>
        </p:nvPicPr>
        <p:blipFill>
          <a:blip r:embed="rId2"/>
          <a:stretch>
            <a:fillRect/>
          </a:stretch>
        </p:blipFill>
        <p:spPr>
          <a:xfrm>
            <a:off x="802640" y="1473200"/>
            <a:ext cx="10617200" cy="4399280"/>
          </a:xfrm>
          <a:prstGeom prst="rect">
            <a:avLst/>
          </a:prstGeom>
        </p:spPr>
      </p:pic>
    </p:spTree>
    <p:extLst>
      <p:ext uri="{BB962C8B-B14F-4D97-AF65-F5344CB8AC3E}">
        <p14:creationId xmlns:p14="http://schemas.microsoft.com/office/powerpoint/2010/main" val="3776553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9DA030E-0C8E-3853-EA7C-71DBB35A2470}"/>
              </a:ext>
            </a:extLst>
          </p:cNvPr>
          <p:cNvSpPr txBox="1"/>
          <p:nvPr/>
        </p:nvSpPr>
        <p:spPr>
          <a:xfrm>
            <a:off x="777240" y="589280"/>
            <a:ext cx="10637520" cy="5262979"/>
          </a:xfrm>
          <a:prstGeom prst="rect">
            <a:avLst/>
          </a:prstGeom>
          <a:noFill/>
        </p:spPr>
        <p:txBody>
          <a:bodyPr wrap="square" rtlCol="0">
            <a:spAutoFit/>
          </a:bodyPr>
          <a:lstStyle/>
          <a:p>
            <a:pPr algn="ctr"/>
            <a:r>
              <a:rPr lang="en-US" sz="4000" dirty="0"/>
              <a:t>Methodology</a:t>
            </a:r>
          </a:p>
          <a:p>
            <a:r>
              <a:rPr lang="en-IN" sz="2000" dirty="0">
                <a:solidFill>
                  <a:srgbClr val="00B0F0"/>
                </a:solidFill>
              </a:rPr>
              <a:t>Define the Problem</a:t>
            </a:r>
          </a:p>
          <a:p>
            <a:r>
              <a:rPr lang="en-US" sz="1600" b="1" dirty="0"/>
              <a:t>Color name</a:t>
            </a:r>
            <a:r>
              <a:rPr lang="en-US" sz="1600" dirty="0"/>
              <a:t> (e.g., red, blue)</a:t>
            </a:r>
          </a:p>
          <a:p>
            <a:r>
              <a:rPr lang="en-US" sz="1600" b="1" dirty="0"/>
              <a:t>RGB values</a:t>
            </a:r>
            <a:r>
              <a:rPr lang="en-US" sz="1600" dirty="0"/>
              <a:t> (red, green, blue components)</a:t>
            </a:r>
          </a:p>
          <a:p>
            <a:r>
              <a:rPr lang="en-US" sz="1600" b="1" dirty="0"/>
              <a:t>Frequency</a:t>
            </a:r>
            <a:r>
              <a:rPr lang="en-US" sz="1600" dirty="0"/>
              <a:t> (how often the color appears in the image)</a:t>
            </a:r>
          </a:p>
          <a:p>
            <a:endParaRPr lang="en-US" sz="1600" dirty="0">
              <a:solidFill>
                <a:srgbClr val="00B0F0"/>
              </a:solidFill>
            </a:endParaRPr>
          </a:p>
          <a:p>
            <a:r>
              <a:rPr lang="en-IN" sz="2000" dirty="0">
                <a:solidFill>
                  <a:srgbClr val="00B0F0"/>
                </a:solidFill>
              </a:rPr>
              <a:t>Data Collection</a:t>
            </a:r>
          </a:p>
          <a:p>
            <a:r>
              <a:rPr lang="en-IN" sz="1600" b="1" dirty="0"/>
              <a:t>Input Type</a:t>
            </a:r>
            <a:r>
              <a:rPr lang="en-IN" sz="1600" dirty="0"/>
              <a:t>: Images (static) </a:t>
            </a:r>
            <a:endParaRPr lang="en-IN" sz="1600" dirty="0">
              <a:solidFill>
                <a:srgbClr val="00B0F0"/>
              </a:solidFill>
            </a:endParaRPr>
          </a:p>
          <a:p>
            <a:r>
              <a:rPr lang="en-US" sz="1600" b="1" dirty="0"/>
              <a:t>Format</a:t>
            </a:r>
            <a:r>
              <a:rPr lang="en-US" sz="1600" dirty="0"/>
              <a:t>: Images are typically in formats like jpg. , </a:t>
            </a:r>
            <a:r>
              <a:rPr lang="en-US" sz="1600" dirty="0" err="1"/>
              <a:t>png</a:t>
            </a:r>
            <a:r>
              <a:rPr lang="en-US" sz="1600" dirty="0"/>
              <a:t>.</a:t>
            </a:r>
          </a:p>
          <a:p>
            <a:endParaRPr lang="en-US" sz="1600" dirty="0">
              <a:solidFill>
                <a:srgbClr val="00B0F0"/>
              </a:solidFill>
            </a:endParaRPr>
          </a:p>
          <a:p>
            <a:r>
              <a:rPr lang="en-IN" sz="2000" dirty="0">
                <a:solidFill>
                  <a:srgbClr val="00B0F0"/>
                </a:solidFill>
              </a:rPr>
              <a:t>Image Preprocessing</a:t>
            </a:r>
            <a:endParaRPr lang="en-US" sz="2000" dirty="0">
              <a:solidFill>
                <a:srgbClr val="00B0F0"/>
              </a:solidFill>
            </a:endParaRPr>
          </a:p>
          <a:p>
            <a:r>
              <a:rPr lang="en-US" sz="1600" b="1" dirty="0"/>
              <a:t>Resize</a:t>
            </a:r>
            <a:r>
              <a:rPr lang="en-US" sz="1600" dirty="0"/>
              <a:t> the image for faster processing (optional).</a:t>
            </a:r>
            <a:endParaRPr lang="en-IN" sz="1600" dirty="0">
              <a:solidFill>
                <a:srgbClr val="00B0F0"/>
              </a:solidFill>
            </a:endParaRPr>
          </a:p>
          <a:p>
            <a:r>
              <a:rPr lang="en-US" sz="1600" b="1" dirty="0"/>
              <a:t>Convert the image to a suitable color space</a:t>
            </a:r>
            <a:r>
              <a:rPr lang="en-US" sz="1600" dirty="0"/>
              <a:t> (e.g., RGB if the image is in BGR, which is OpenCV’s default color format).</a:t>
            </a:r>
            <a:endParaRPr lang="en-IN" sz="1600" dirty="0">
              <a:solidFill>
                <a:srgbClr val="00B0F0"/>
              </a:solidFill>
            </a:endParaRPr>
          </a:p>
          <a:p>
            <a:endParaRPr lang="en-IN" sz="1600" dirty="0">
              <a:solidFill>
                <a:srgbClr val="00B0F0"/>
              </a:solidFill>
            </a:endParaRPr>
          </a:p>
          <a:p>
            <a:r>
              <a:rPr lang="en-IN" sz="2000" dirty="0">
                <a:solidFill>
                  <a:srgbClr val="00B0F0"/>
                </a:solidFill>
              </a:rPr>
              <a:t>Frequency Calculation</a:t>
            </a:r>
          </a:p>
          <a:p>
            <a:r>
              <a:rPr lang="en-US" sz="1600" dirty="0"/>
              <a:t>1.Count how many pixels in the image correspond to each detected color.</a:t>
            </a:r>
            <a:endParaRPr lang="en-IN" sz="1600" dirty="0">
              <a:solidFill>
                <a:srgbClr val="00B0F0"/>
              </a:solidFill>
            </a:endParaRPr>
          </a:p>
          <a:p>
            <a:r>
              <a:rPr lang="en-US" sz="1600" dirty="0"/>
              <a:t>2.For a more refined count, calculate how many pixels fall into each cluster in the case of K-means</a:t>
            </a:r>
            <a:r>
              <a:rPr lang="en-US" sz="2000" dirty="0"/>
              <a:t>.</a:t>
            </a:r>
          </a:p>
          <a:p>
            <a:endParaRPr lang="en-IN" sz="2000" dirty="0">
              <a:solidFill>
                <a:srgbClr val="00B0F0"/>
              </a:solidFill>
            </a:endParaRPr>
          </a:p>
        </p:txBody>
      </p:sp>
    </p:spTree>
    <p:extLst>
      <p:ext uri="{BB962C8B-B14F-4D97-AF65-F5344CB8AC3E}">
        <p14:creationId xmlns:p14="http://schemas.microsoft.com/office/powerpoint/2010/main" val="16120407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6AFBCB52-B8EE-A976-1EA6-55BD7ACCDCEA}"/>
              </a:ext>
            </a:extLst>
          </p:cNvPr>
          <p:cNvGraphicFramePr>
            <a:graphicFrameLocks noGrp="1"/>
          </p:cNvGraphicFramePr>
          <p:nvPr>
            <p:extLst>
              <p:ext uri="{D42A27DB-BD31-4B8C-83A1-F6EECF244321}">
                <p14:modId xmlns:p14="http://schemas.microsoft.com/office/powerpoint/2010/main" val="495651201"/>
              </p:ext>
            </p:extLst>
          </p:nvPr>
        </p:nvGraphicFramePr>
        <p:xfrm>
          <a:off x="1087120" y="1818640"/>
          <a:ext cx="9845040" cy="4226559"/>
        </p:xfrm>
        <a:graphic>
          <a:graphicData uri="http://schemas.openxmlformats.org/drawingml/2006/table">
            <a:tbl>
              <a:tblPr firstRow="1" bandRow="1">
                <a:tableStyleId>{5C22544A-7EE6-4342-B048-85BDC9FD1C3A}</a:tableStyleId>
              </a:tblPr>
              <a:tblGrid>
                <a:gridCol w="3248698">
                  <a:extLst>
                    <a:ext uri="{9D8B030D-6E8A-4147-A177-3AD203B41FA5}">
                      <a16:colId xmlns:a16="http://schemas.microsoft.com/office/drawing/2014/main" val="86296372"/>
                    </a:ext>
                  </a:extLst>
                </a:gridCol>
                <a:gridCol w="3298171">
                  <a:extLst>
                    <a:ext uri="{9D8B030D-6E8A-4147-A177-3AD203B41FA5}">
                      <a16:colId xmlns:a16="http://schemas.microsoft.com/office/drawing/2014/main" val="3891917096"/>
                    </a:ext>
                  </a:extLst>
                </a:gridCol>
                <a:gridCol w="3298171">
                  <a:extLst>
                    <a:ext uri="{9D8B030D-6E8A-4147-A177-3AD203B41FA5}">
                      <a16:colId xmlns:a16="http://schemas.microsoft.com/office/drawing/2014/main" val="229002996"/>
                    </a:ext>
                  </a:extLst>
                </a:gridCol>
              </a:tblGrid>
              <a:tr h="799620">
                <a:tc>
                  <a:txBody>
                    <a:bodyPr/>
                    <a:lstStyle/>
                    <a:p>
                      <a:r>
                        <a:rPr lang="en-US" dirty="0"/>
                        <a:t>TEAM MEMBER</a:t>
                      </a:r>
                    </a:p>
                    <a:p>
                      <a:r>
                        <a:rPr lang="en-US" dirty="0"/>
                        <a:t>NAME</a:t>
                      </a:r>
                      <a:endParaRPr lang="en-IN" dirty="0"/>
                    </a:p>
                  </a:txBody>
                  <a:tcPr/>
                </a:tc>
                <a:tc>
                  <a:txBody>
                    <a:bodyPr/>
                    <a:lstStyle/>
                    <a:p>
                      <a:r>
                        <a:rPr lang="en-US" dirty="0"/>
                        <a:t>INDIVIDUAL ROLE</a:t>
                      </a:r>
                      <a:endParaRPr lang="en-IN" dirty="0"/>
                    </a:p>
                  </a:txBody>
                  <a:tcPr/>
                </a:tc>
                <a:tc>
                  <a:txBody>
                    <a:bodyPr/>
                    <a:lstStyle/>
                    <a:p>
                      <a:r>
                        <a:rPr lang="en-US" dirty="0"/>
                        <a:t>KEY CONTRIBUTION</a:t>
                      </a:r>
                      <a:endParaRPr lang="en-IN" dirty="0"/>
                    </a:p>
                  </a:txBody>
                  <a:tcPr/>
                </a:tc>
                <a:extLst>
                  <a:ext uri="{0D108BD9-81ED-4DB2-BD59-A6C34878D82A}">
                    <a16:rowId xmlns:a16="http://schemas.microsoft.com/office/drawing/2014/main" val="1640340861"/>
                  </a:ext>
                </a:extLst>
              </a:tr>
              <a:tr h="1142313">
                <a:tc>
                  <a:txBody>
                    <a:bodyPr/>
                    <a:lstStyle/>
                    <a:p>
                      <a:r>
                        <a:rPr lang="en-US" dirty="0"/>
                        <a:t>1.Om </a:t>
                      </a:r>
                      <a:r>
                        <a:rPr lang="en-US" dirty="0" err="1"/>
                        <a:t>Nandkumar</a:t>
                      </a:r>
                      <a:r>
                        <a:rPr lang="en-US" dirty="0"/>
                        <a:t> Ghorpade</a:t>
                      </a:r>
                      <a:endParaRPr lang="en-IN" dirty="0"/>
                    </a:p>
                  </a:txBody>
                  <a:tcPr/>
                </a:tc>
                <a:tc>
                  <a:txBody>
                    <a:bodyPr/>
                    <a:lstStyle/>
                    <a:p>
                      <a:r>
                        <a:rPr lang="en-US" dirty="0"/>
                        <a:t>Python Machine Learning</a:t>
                      </a:r>
                      <a:endParaRPr lang="en-IN" dirty="0"/>
                    </a:p>
                  </a:txBody>
                  <a:tcPr/>
                </a:tc>
                <a:tc>
                  <a:txBody>
                    <a:bodyPr/>
                    <a:lstStyle/>
                    <a:p>
                      <a:r>
                        <a:rPr lang="en-US" dirty="0"/>
                        <a:t>Team work coordination,</a:t>
                      </a:r>
                    </a:p>
                    <a:p>
                      <a:r>
                        <a:rPr lang="en-US" dirty="0"/>
                        <a:t>Timely execution of each task</a:t>
                      </a:r>
                      <a:endParaRPr lang="en-IN" dirty="0"/>
                    </a:p>
                  </a:txBody>
                  <a:tcPr/>
                </a:tc>
                <a:extLst>
                  <a:ext uri="{0D108BD9-81ED-4DB2-BD59-A6C34878D82A}">
                    <a16:rowId xmlns:a16="http://schemas.microsoft.com/office/drawing/2014/main" val="764695690"/>
                  </a:ext>
                </a:extLst>
              </a:tr>
              <a:tr h="1142313">
                <a:tc>
                  <a:txBody>
                    <a:bodyPr/>
                    <a:lstStyle/>
                    <a:p>
                      <a:r>
                        <a:rPr lang="en-US" dirty="0"/>
                        <a:t>2.Vaishnav </a:t>
                      </a:r>
                      <a:r>
                        <a:rPr lang="en-US" dirty="0" err="1"/>
                        <a:t>Ingale</a:t>
                      </a:r>
                      <a:endParaRPr lang="en-IN" dirty="0"/>
                    </a:p>
                  </a:txBody>
                  <a:tcPr/>
                </a:tc>
                <a:tc>
                  <a:txBody>
                    <a:bodyPr/>
                    <a:lstStyle/>
                    <a:p>
                      <a:r>
                        <a:rPr lang="en-US" dirty="0"/>
                        <a:t>Python deep Learning</a:t>
                      </a:r>
                      <a:endParaRPr lang="en-IN" dirty="0"/>
                    </a:p>
                  </a:txBody>
                  <a:tcPr/>
                </a:tc>
                <a:tc>
                  <a:txBody>
                    <a:bodyPr/>
                    <a:lstStyle/>
                    <a:p>
                      <a:r>
                        <a:rPr lang="en-US" dirty="0"/>
                        <a:t>Explaining project details,</a:t>
                      </a:r>
                    </a:p>
                    <a:p>
                      <a:r>
                        <a:rPr lang="en-US" dirty="0"/>
                        <a:t>Contributing in projects progress</a:t>
                      </a:r>
                      <a:endParaRPr lang="en-IN" dirty="0"/>
                    </a:p>
                  </a:txBody>
                  <a:tcPr/>
                </a:tc>
                <a:extLst>
                  <a:ext uri="{0D108BD9-81ED-4DB2-BD59-A6C34878D82A}">
                    <a16:rowId xmlns:a16="http://schemas.microsoft.com/office/drawing/2014/main" val="2563702124"/>
                  </a:ext>
                </a:extLst>
              </a:tr>
              <a:tr h="1142313">
                <a:tc>
                  <a:txBody>
                    <a:bodyPr/>
                    <a:lstStyle/>
                    <a:p>
                      <a:r>
                        <a:rPr lang="en-US" dirty="0"/>
                        <a:t>3.Sahil Vijay </a:t>
                      </a:r>
                      <a:r>
                        <a:rPr lang="en-US" dirty="0" err="1"/>
                        <a:t>Pisal</a:t>
                      </a:r>
                      <a:endParaRPr lang="en-IN" dirty="0"/>
                    </a:p>
                  </a:txBody>
                  <a:tcPr/>
                </a:tc>
                <a:tc>
                  <a:txBody>
                    <a:bodyPr/>
                    <a:lstStyle/>
                    <a:p>
                      <a:r>
                        <a:rPr lang="en-US" dirty="0"/>
                        <a:t>Data analysis</a:t>
                      </a:r>
                      <a:endParaRPr lang="en-IN" dirty="0"/>
                    </a:p>
                  </a:txBody>
                  <a:tcPr/>
                </a:tc>
                <a:tc>
                  <a:txBody>
                    <a:bodyPr/>
                    <a:lstStyle/>
                    <a:p>
                      <a:r>
                        <a:rPr lang="en-US" dirty="0"/>
                        <a:t>Collecting data requirements and ensuring timely executions of work </a:t>
                      </a:r>
                      <a:endParaRPr lang="en-IN" dirty="0"/>
                    </a:p>
                  </a:txBody>
                  <a:tcPr/>
                </a:tc>
                <a:extLst>
                  <a:ext uri="{0D108BD9-81ED-4DB2-BD59-A6C34878D82A}">
                    <a16:rowId xmlns:a16="http://schemas.microsoft.com/office/drawing/2014/main" val="3666658299"/>
                  </a:ext>
                </a:extLst>
              </a:tr>
            </a:tbl>
          </a:graphicData>
        </a:graphic>
      </p:graphicFrame>
      <p:sp>
        <p:nvSpPr>
          <p:cNvPr id="10" name="TextBox 9">
            <a:extLst>
              <a:ext uri="{FF2B5EF4-FFF2-40B4-BE49-F238E27FC236}">
                <a16:creationId xmlns:a16="http://schemas.microsoft.com/office/drawing/2014/main" id="{6AA584DE-CEDD-B570-8BAC-8C9D1E716AF0}"/>
              </a:ext>
            </a:extLst>
          </p:cNvPr>
          <p:cNvSpPr txBox="1"/>
          <p:nvPr/>
        </p:nvSpPr>
        <p:spPr>
          <a:xfrm>
            <a:off x="716280" y="812801"/>
            <a:ext cx="10759440" cy="707886"/>
          </a:xfrm>
          <a:prstGeom prst="rect">
            <a:avLst/>
          </a:prstGeom>
          <a:noFill/>
        </p:spPr>
        <p:txBody>
          <a:bodyPr wrap="square" rtlCol="0">
            <a:spAutoFit/>
          </a:bodyPr>
          <a:lstStyle/>
          <a:p>
            <a:pPr algn="ctr"/>
            <a:r>
              <a:rPr lang="en-US" sz="4000" dirty="0"/>
              <a:t>Team Members</a:t>
            </a:r>
            <a:endParaRPr lang="en-IN" sz="4000" dirty="0"/>
          </a:p>
        </p:txBody>
      </p:sp>
    </p:spTree>
    <p:extLst>
      <p:ext uri="{BB962C8B-B14F-4D97-AF65-F5344CB8AC3E}">
        <p14:creationId xmlns:p14="http://schemas.microsoft.com/office/powerpoint/2010/main" val="1469231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7B68137-DFEE-87AD-6D7B-FCA4EF1CAE0F}"/>
              </a:ext>
            </a:extLst>
          </p:cNvPr>
          <p:cNvSpPr txBox="1"/>
          <p:nvPr/>
        </p:nvSpPr>
        <p:spPr>
          <a:xfrm>
            <a:off x="782320" y="701040"/>
            <a:ext cx="10657840" cy="3785652"/>
          </a:xfrm>
          <a:prstGeom prst="rect">
            <a:avLst/>
          </a:prstGeom>
          <a:noFill/>
        </p:spPr>
        <p:txBody>
          <a:bodyPr wrap="square" rtlCol="0">
            <a:spAutoFit/>
          </a:bodyPr>
          <a:lstStyle/>
          <a:p>
            <a:pPr algn="ctr"/>
            <a:r>
              <a:rPr lang="en-US" sz="4000" dirty="0"/>
              <a:t>Advantages and Disadvantages</a:t>
            </a:r>
          </a:p>
          <a:p>
            <a:r>
              <a:rPr lang="en-US" sz="2000" dirty="0">
                <a:solidFill>
                  <a:srgbClr val="00B0F0"/>
                </a:solidFill>
              </a:rPr>
              <a:t>ADVANTAGES</a:t>
            </a:r>
          </a:p>
          <a:p>
            <a:r>
              <a:rPr lang="en-IN" sz="2000" b="1" dirty="0"/>
              <a:t>1.Simple Implementation (K-Means Clustering)</a:t>
            </a:r>
            <a:r>
              <a:rPr lang="en-IN" sz="2000" dirty="0"/>
              <a:t>:</a:t>
            </a:r>
          </a:p>
          <a:p>
            <a:r>
              <a:rPr lang="en-IN" sz="2000" b="1" dirty="0"/>
              <a:t>2.Automation</a:t>
            </a:r>
            <a:r>
              <a:rPr lang="en-IN" sz="2000" dirty="0"/>
              <a:t>: </a:t>
            </a:r>
          </a:p>
          <a:p>
            <a:r>
              <a:rPr lang="en-IN" sz="2000" b="1" dirty="0"/>
              <a:t>3.Scalability</a:t>
            </a:r>
            <a:r>
              <a:rPr lang="en-IN" sz="2000" dirty="0"/>
              <a:t>:</a:t>
            </a:r>
            <a:endParaRPr lang="en-US" sz="2000" dirty="0"/>
          </a:p>
          <a:p>
            <a:r>
              <a:rPr lang="en-IN" sz="2000" b="1" dirty="0"/>
              <a:t>4.Data Storage and Organization</a:t>
            </a:r>
            <a:r>
              <a:rPr lang="en-IN" sz="2000" dirty="0"/>
              <a:t>: </a:t>
            </a:r>
          </a:p>
          <a:p>
            <a:endParaRPr lang="en-IN" sz="2000" dirty="0"/>
          </a:p>
          <a:p>
            <a:r>
              <a:rPr lang="en-IN" sz="2000" dirty="0"/>
              <a:t>     </a:t>
            </a:r>
          </a:p>
          <a:p>
            <a:r>
              <a:rPr lang="en-US" sz="2000" dirty="0"/>
              <a:t>.</a:t>
            </a:r>
            <a:endParaRPr lang="en-IN" sz="2000" dirty="0"/>
          </a:p>
          <a:p>
            <a:r>
              <a:rPr lang="en-IN" sz="2000" dirty="0"/>
              <a:t>      </a:t>
            </a:r>
          </a:p>
          <a:p>
            <a:endParaRPr lang="en-IN" sz="2000" dirty="0"/>
          </a:p>
        </p:txBody>
      </p:sp>
      <p:sp>
        <p:nvSpPr>
          <p:cNvPr id="11" name="TextBox 10">
            <a:extLst>
              <a:ext uri="{FF2B5EF4-FFF2-40B4-BE49-F238E27FC236}">
                <a16:creationId xmlns:a16="http://schemas.microsoft.com/office/drawing/2014/main" id="{6C456BBA-BDFF-21D5-E479-17754DB21CE4}"/>
              </a:ext>
            </a:extLst>
          </p:cNvPr>
          <p:cNvSpPr txBox="1"/>
          <p:nvPr/>
        </p:nvSpPr>
        <p:spPr>
          <a:xfrm>
            <a:off x="782320" y="3009364"/>
            <a:ext cx="6116320" cy="1477328"/>
          </a:xfrm>
          <a:prstGeom prst="rect">
            <a:avLst/>
          </a:prstGeom>
          <a:noFill/>
        </p:spPr>
        <p:txBody>
          <a:bodyPr wrap="square">
            <a:spAutoFit/>
          </a:bodyPr>
          <a:lstStyle/>
          <a:p>
            <a:r>
              <a:rPr lang="en-US" sz="1800" dirty="0">
                <a:solidFill>
                  <a:srgbClr val="00B0F0"/>
                </a:solidFill>
              </a:rPr>
              <a:t>DISADVANTAGES</a:t>
            </a:r>
          </a:p>
          <a:p>
            <a:r>
              <a:rPr lang="en-IN" sz="1800" b="1" dirty="0"/>
              <a:t>1.K-Means Clustering Limitations.</a:t>
            </a:r>
          </a:p>
          <a:p>
            <a:r>
              <a:rPr lang="en-IN" sz="1800" b="1" dirty="0"/>
              <a:t>2.Computational Complexity.</a:t>
            </a:r>
          </a:p>
          <a:p>
            <a:r>
              <a:rPr lang="en-IN" sz="1800" b="1" dirty="0"/>
              <a:t>3.Color Name Mapping.</a:t>
            </a:r>
          </a:p>
          <a:p>
            <a:r>
              <a:rPr lang="en-US" sz="1800" b="1" dirty="0"/>
              <a:t>4.Color Detection in Complex Images</a:t>
            </a:r>
            <a:endParaRPr lang="en-US" sz="1800" dirty="0"/>
          </a:p>
        </p:txBody>
      </p:sp>
    </p:spTree>
    <p:extLst>
      <p:ext uri="{BB962C8B-B14F-4D97-AF65-F5344CB8AC3E}">
        <p14:creationId xmlns:p14="http://schemas.microsoft.com/office/powerpoint/2010/main" val="9934897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352FF0-EB6E-1961-C00D-AF56DCB5A60E}"/>
              </a:ext>
            </a:extLst>
          </p:cNvPr>
          <p:cNvSpPr txBox="1"/>
          <p:nvPr/>
        </p:nvSpPr>
        <p:spPr>
          <a:xfrm>
            <a:off x="756920" y="558800"/>
            <a:ext cx="10678160" cy="5139869"/>
          </a:xfrm>
          <a:prstGeom prst="rect">
            <a:avLst/>
          </a:prstGeom>
          <a:noFill/>
        </p:spPr>
        <p:txBody>
          <a:bodyPr wrap="square" rtlCol="0">
            <a:spAutoFit/>
          </a:bodyPr>
          <a:lstStyle/>
          <a:p>
            <a:pPr algn="ctr"/>
            <a:r>
              <a:rPr lang="en-US" sz="4000" dirty="0"/>
              <a:t>Why this problem is important</a:t>
            </a:r>
          </a:p>
          <a:p>
            <a:r>
              <a:rPr lang="en-US" sz="2000" dirty="0">
                <a:solidFill>
                  <a:srgbClr val="00B0F0"/>
                </a:solidFill>
              </a:rPr>
              <a:t>Impact of Solving the Color Detection Problem</a:t>
            </a:r>
          </a:p>
          <a:p>
            <a:r>
              <a:rPr lang="en-IN" sz="1600" dirty="0"/>
              <a:t>1.Enhanced User Experience</a:t>
            </a:r>
          </a:p>
          <a:p>
            <a:r>
              <a:rPr lang="en-US" sz="1600" dirty="0"/>
              <a:t>2.Increased Efficiency in Automated Systems</a:t>
            </a:r>
            <a:endParaRPr lang="en-US" sz="1600" dirty="0">
              <a:solidFill>
                <a:srgbClr val="00B0F0"/>
              </a:solidFill>
            </a:endParaRPr>
          </a:p>
          <a:p>
            <a:r>
              <a:rPr lang="en-IN" sz="1600" dirty="0"/>
              <a:t>3.Better Marketing and Branding</a:t>
            </a:r>
          </a:p>
          <a:p>
            <a:endParaRPr lang="en-IN" sz="1600" dirty="0">
              <a:solidFill>
                <a:srgbClr val="00B0F0"/>
              </a:solidFill>
            </a:endParaRPr>
          </a:p>
          <a:p>
            <a:r>
              <a:rPr lang="en-IN" sz="2000" dirty="0" err="1">
                <a:solidFill>
                  <a:srgbClr val="00B0F0"/>
                </a:solidFill>
              </a:rPr>
              <a:t>Relevence</a:t>
            </a:r>
            <a:r>
              <a:rPr lang="en-IN" sz="2000" dirty="0">
                <a:solidFill>
                  <a:srgbClr val="00B0F0"/>
                </a:solidFill>
              </a:rPr>
              <a:t> to the audience </a:t>
            </a:r>
          </a:p>
          <a:p>
            <a:r>
              <a:rPr lang="en-IN" sz="1600" dirty="0"/>
              <a:t>1.Business Owners and Entrepreneurs</a:t>
            </a:r>
            <a:endParaRPr lang="en-IN" sz="1600" dirty="0">
              <a:solidFill>
                <a:srgbClr val="00B0F0"/>
              </a:solidFill>
            </a:endParaRPr>
          </a:p>
          <a:p>
            <a:r>
              <a:rPr lang="en-IN" sz="1600" dirty="0"/>
              <a:t>2.Developers and Data Scientists</a:t>
            </a:r>
            <a:endParaRPr lang="en-IN" sz="1600" dirty="0">
              <a:solidFill>
                <a:srgbClr val="00B0F0"/>
              </a:solidFill>
            </a:endParaRPr>
          </a:p>
          <a:p>
            <a:r>
              <a:rPr lang="en-IN" sz="1600" dirty="0"/>
              <a:t>3.Healthcare Professionals</a:t>
            </a:r>
          </a:p>
          <a:p>
            <a:endParaRPr lang="en-IN" sz="1600" dirty="0">
              <a:solidFill>
                <a:srgbClr val="00B0F0"/>
              </a:solidFill>
            </a:endParaRPr>
          </a:p>
          <a:p>
            <a:r>
              <a:rPr lang="en-IN" sz="2000" dirty="0">
                <a:solidFill>
                  <a:srgbClr val="00B0F0"/>
                </a:solidFill>
              </a:rPr>
              <a:t>Expected improvement and outcomes</a:t>
            </a:r>
          </a:p>
          <a:p>
            <a:r>
              <a:rPr lang="en-IN" sz="1600" dirty="0"/>
              <a:t>1.Improved Accuracy and Precision</a:t>
            </a:r>
            <a:endParaRPr lang="en-IN" sz="1600" dirty="0">
              <a:solidFill>
                <a:srgbClr val="00B0F0"/>
              </a:solidFill>
            </a:endParaRPr>
          </a:p>
          <a:p>
            <a:r>
              <a:rPr lang="en-US" sz="1600" dirty="0"/>
              <a:t>2.Enhanced Efficiency in Automation and Robotics</a:t>
            </a:r>
            <a:endParaRPr lang="en-IN" sz="1600" dirty="0">
              <a:solidFill>
                <a:srgbClr val="00B0F0"/>
              </a:solidFill>
            </a:endParaRPr>
          </a:p>
          <a:p>
            <a:r>
              <a:rPr lang="en-IN" sz="1600" dirty="0"/>
              <a:t>3.Cost Savings</a:t>
            </a:r>
            <a:endParaRPr lang="en-US" sz="1600" dirty="0">
              <a:solidFill>
                <a:srgbClr val="00B0F0"/>
              </a:solidFill>
            </a:endParaRPr>
          </a:p>
          <a:p>
            <a:pPr algn="ctr"/>
            <a:endParaRPr lang="en-IN" sz="4000" dirty="0">
              <a:solidFill>
                <a:srgbClr val="00B0F0"/>
              </a:solidFill>
            </a:endParaRPr>
          </a:p>
        </p:txBody>
      </p:sp>
    </p:spTree>
    <p:extLst>
      <p:ext uri="{BB962C8B-B14F-4D97-AF65-F5344CB8AC3E}">
        <p14:creationId xmlns:p14="http://schemas.microsoft.com/office/powerpoint/2010/main" val="2624808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127A5A-1480-2A85-B8CE-5D64F567CA2F}"/>
              </a:ext>
            </a:extLst>
          </p:cNvPr>
          <p:cNvSpPr txBox="1"/>
          <p:nvPr/>
        </p:nvSpPr>
        <p:spPr>
          <a:xfrm>
            <a:off x="792480" y="619760"/>
            <a:ext cx="10607040" cy="707886"/>
          </a:xfrm>
          <a:prstGeom prst="rect">
            <a:avLst/>
          </a:prstGeom>
          <a:noFill/>
        </p:spPr>
        <p:txBody>
          <a:bodyPr wrap="square" rtlCol="0">
            <a:spAutoFit/>
          </a:bodyPr>
          <a:lstStyle/>
          <a:p>
            <a:pPr algn="ctr"/>
            <a:r>
              <a:rPr lang="en-US" sz="4000" dirty="0"/>
              <a:t>Screenshot Or Visuals</a:t>
            </a:r>
            <a:endParaRPr lang="en-IN" sz="4000" dirty="0"/>
          </a:p>
        </p:txBody>
      </p:sp>
      <p:pic>
        <p:nvPicPr>
          <p:cNvPr id="4" name="Picture 3">
            <a:extLst>
              <a:ext uri="{FF2B5EF4-FFF2-40B4-BE49-F238E27FC236}">
                <a16:creationId xmlns:a16="http://schemas.microsoft.com/office/drawing/2014/main" id="{DCCFB3F7-AB0A-5A59-0CA5-BDFC4EA6EB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9120" y="1235031"/>
            <a:ext cx="11033760" cy="5003209"/>
          </a:xfrm>
          <a:prstGeom prst="rect">
            <a:avLst/>
          </a:prstGeom>
        </p:spPr>
      </p:pic>
    </p:spTree>
    <p:extLst>
      <p:ext uri="{BB962C8B-B14F-4D97-AF65-F5344CB8AC3E}">
        <p14:creationId xmlns:p14="http://schemas.microsoft.com/office/powerpoint/2010/main" val="2352086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845CD48-8CB8-257F-736C-C53824AEF7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252" y="1473744"/>
            <a:ext cx="10677832" cy="4750075"/>
          </a:xfrm>
          <a:prstGeom prst="rect">
            <a:avLst/>
          </a:prstGeom>
        </p:spPr>
      </p:pic>
      <p:sp>
        <p:nvSpPr>
          <p:cNvPr id="4" name="TextBox 3">
            <a:extLst>
              <a:ext uri="{FF2B5EF4-FFF2-40B4-BE49-F238E27FC236}">
                <a16:creationId xmlns:a16="http://schemas.microsoft.com/office/drawing/2014/main" id="{DC2E2F54-B5B8-CB0E-F4B6-05B565D50F77}"/>
              </a:ext>
            </a:extLst>
          </p:cNvPr>
          <p:cNvSpPr txBox="1"/>
          <p:nvPr/>
        </p:nvSpPr>
        <p:spPr>
          <a:xfrm>
            <a:off x="629265" y="634182"/>
            <a:ext cx="10962967" cy="707886"/>
          </a:xfrm>
          <a:prstGeom prst="rect">
            <a:avLst/>
          </a:prstGeom>
          <a:noFill/>
        </p:spPr>
        <p:txBody>
          <a:bodyPr wrap="square" rtlCol="0">
            <a:spAutoFit/>
          </a:bodyPr>
          <a:lstStyle/>
          <a:p>
            <a:pPr algn="ctr"/>
            <a:r>
              <a:rPr lang="en-US" sz="4000" dirty="0"/>
              <a:t>Project Code</a:t>
            </a:r>
            <a:endParaRPr lang="en-IN" sz="4000" dirty="0"/>
          </a:p>
        </p:txBody>
      </p:sp>
    </p:spTree>
    <p:extLst>
      <p:ext uri="{BB962C8B-B14F-4D97-AF65-F5344CB8AC3E}">
        <p14:creationId xmlns:p14="http://schemas.microsoft.com/office/powerpoint/2010/main" val="1624914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481BCB5-D6F3-1136-8C10-7C29D925C3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7252" y="1268362"/>
            <a:ext cx="10687664" cy="4948486"/>
          </a:xfrm>
          <a:prstGeom prst="rect">
            <a:avLst/>
          </a:prstGeom>
        </p:spPr>
      </p:pic>
      <p:sp>
        <p:nvSpPr>
          <p:cNvPr id="4" name="TextBox 3">
            <a:extLst>
              <a:ext uri="{FF2B5EF4-FFF2-40B4-BE49-F238E27FC236}">
                <a16:creationId xmlns:a16="http://schemas.microsoft.com/office/drawing/2014/main" id="{9D5E8F64-A86D-7600-8827-6B728A34B238}"/>
              </a:ext>
            </a:extLst>
          </p:cNvPr>
          <p:cNvSpPr txBox="1"/>
          <p:nvPr/>
        </p:nvSpPr>
        <p:spPr>
          <a:xfrm>
            <a:off x="634181" y="641152"/>
            <a:ext cx="10913806" cy="707886"/>
          </a:xfrm>
          <a:prstGeom prst="rect">
            <a:avLst/>
          </a:prstGeom>
          <a:noFill/>
        </p:spPr>
        <p:txBody>
          <a:bodyPr wrap="square" rtlCol="0">
            <a:spAutoFit/>
          </a:bodyPr>
          <a:lstStyle/>
          <a:p>
            <a:pPr algn="ctr"/>
            <a:r>
              <a:rPr lang="en-US" sz="4000" dirty="0"/>
              <a:t>Project Output</a:t>
            </a:r>
            <a:endParaRPr lang="en-IN" sz="4000" dirty="0"/>
          </a:p>
        </p:txBody>
      </p:sp>
    </p:spTree>
    <p:extLst>
      <p:ext uri="{BB962C8B-B14F-4D97-AF65-F5344CB8AC3E}">
        <p14:creationId xmlns:p14="http://schemas.microsoft.com/office/powerpoint/2010/main" val="23475855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48DF4D7-DBAB-555E-B828-1DCE132790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245" y="1219200"/>
            <a:ext cx="10638504" cy="5004619"/>
          </a:xfrm>
          <a:prstGeom prst="rect">
            <a:avLst/>
          </a:prstGeom>
        </p:spPr>
      </p:pic>
      <p:sp>
        <p:nvSpPr>
          <p:cNvPr id="4" name="TextBox 3">
            <a:extLst>
              <a:ext uri="{FF2B5EF4-FFF2-40B4-BE49-F238E27FC236}">
                <a16:creationId xmlns:a16="http://schemas.microsoft.com/office/drawing/2014/main" id="{BF469E5C-3E1B-8714-00CE-F57442D625F2}"/>
              </a:ext>
            </a:extLst>
          </p:cNvPr>
          <p:cNvSpPr txBox="1"/>
          <p:nvPr/>
        </p:nvSpPr>
        <p:spPr>
          <a:xfrm>
            <a:off x="668594" y="634181"/>
            <a:ext cx="10854812" cy="707886"/>
          </a:xfrm>
          <a:prstGeom prst="rect">
            <a:avLst/>
          </a:prstGeom>
          <a:noFill/>
        </p:spPr>
        <p:txBody>
          <a:bodyPr wrap="square" rtlCol="0">
            <a:spAutoFit/>
          </a:bodyPr>
          <a:lstStyle/>
          <a:p>
            <a:pPr algn="ctr"/>
            <a:r>
              <a:rPr lang="en-US" sz="4000" dirty="0"/>
              <a:t>Dataset Used</a:t>
            </a:r>
            <a:endParaRPr lang="en-IN" sz="4000" dirty="0"/>
          </a:p>
        </p:txBody>
      </p:sp>
    </p:spTree>
    <p:extLst>
      <p:ext uri="{BB962C8B-B14F-4D97-AF65-F5344CB8AC3E}">
        <p14:creationId xmlns:p14="http://schemas.microsoft.com/office/powerpoint/2010/main" val="21525458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16158B3-5589-23EE-2033-4545CC630475}"/>
              </a:ext>
            </a:extLst>
          </p:cNvPr>
          <p:cNvSpPr txBox="1"/>
          <p:nvPr/>
        </p:nvSpPr>
        <p:spPr>
          <a:xfrm>
            <a:off x="833120" y="2052320"/>
            <a:ext cx="8321040" cy="1384995"/>
          </a:xfrm>
          <a:prstGeom prst="rect">
            <a:avLst/>
          </a:prstGeom>
          <a:noFill/>
        </p:spPr>
        <p:txBody>
          <a:bodyPr wrap="square">
            <a:spAutoFit/>
          </a:bodyPr>
          <a:lstStyle/>
          <a:p>
            <a:r>
              <a:rPr lang="en-US" sz="2000" b="1" dirty="0">
                <a:solidFill>
                  <a:srgbClr val="00B0F0"/>
                </a:solidFill>
              </a:rPr>
              <a:t>Synopsis</a:t>
            </a:r>
            <a:r>
              <a:rPr lang="en-US" b="1" dirty="0">
                <a:solidFill>
                  <a:srgbClr val="00B0F0"/>
                </a:solidFill>
              </a:rPr>
              <a:t>: Color Detection Project</a:t>
            </a:r>
          </a:p>
          <a:p>
            <a:r>
              <a:rPr lang="en-US" sz="1600" dirty="0"/>
              <a:t>The </a:t>
            </a:r>
            <a:r>
              <a:rPr lang="en-US" sz="1600" b="1" dirty="0"/>
              <a:t>Color Detection</a:t>
            </a:r>
            <a:r>
              <a:rPr lang="en-US" sz="1600" dirty="0"/>
              <a:t> project focuses on the development of an advanced system to automatically detect and analyze colors in digital images or video streams. The core objective is to leverage machine learning and computer vision technologies to accurately identify colors in various contexts, enabling applications across industries such as e-commerce, healthcare, agriculture, manufacturing, and more.</a:t>
            </a:r>
          </a:p>
        </p:txBody>
      </p:sp>
      <p:sp>
        <p:nvSpPr>
          <p:cNvPr id="4" name="TextBox 3">
            <a:extLst>
              <a:ext uri="{FF2B5EF4-FFF2-40B4-BE49-F238E27FC236}">
                <a16:creationId xmlns:a16="http://schemas.microsoft.com/office/drawing/2014/main" id="{0A888CEB-B466-E069-059C-5EEAFDA27288}"/>
              </a:ext>
            </a:extLst>
          </p:cNvPr>
          <p:cNvSpPr txBox="1"/>
          <p:nvPr/>
        </p:nvSpPr>
        <p:spPr>
          <a:xfrm>
            <a:off x="723900" y="599440"/>
            <a:ext cx="10744200" cy="707886"/>
          </a:xfrm>
          <a:prstGeom prst="rect">
            <a:avLst/>
          </a:prstGeom>
          <a:noFill/>
        </p:spPr>
        <p:txBody>
          <a:bodyPr wrap="square" rtlCol="0">
            <a:spAutoFit/>
          </a:bodyPr>
          <a:lstStyle/>
          <a:p>
            <a:pPr algn="ctr"/>
            <a:r>
              <a:rPr lang="en-US" sz="4000" dirty="0"/>
              <a:t>Synopsis</a:t>
            </a:r>
            <a:endParaRPr lang="en-IN" sz="4000" dirty="0"/>
          </a:p>
        </p:txBody>
      </p:sp>
      <p:sp>
        <p:nvSpPr>
          <p:cNvPr id="6" name="TextBox 5">
            <a:extLst>
              <a:ext uri="{FF2B5EF4-FFF2-40B4-BE49-F238E27FC236}">
                <a16:creationId xmlns:a16="http://schemas.microsoft.com/office/drawing/2014/main" id="{F77B0369-AD65-A166-40D4-08B3084D520B}"/>
              </a:ext>
            </a:extLst>
          </p:cNvPr>
          <p:cNvSpPr txBox="1"/>
          <p:nvPr/>
        </p:nvSpPr>
        <p:spPr>
          <a:xfrm>
            <a:off x="833120" y="3582144"/>
            <a:ext cx="8209280" cy="1077218"/>
          </a:xfrm>
          <a:prstGeom prst="rect">
            <a:avLst/>
          </a:prstGeom>
          <a:noFill/>
        </p:spPr>
        <p:txBody>
          <a:bodyPr wrap="square">
            <a:spAutoFit/>
          </a:bodyPr>
          <a:lstStyle/>
          <a:p>
            <a:r>
              <a:rPr lang="en-US" sz="1600" dirty="0"/>
              <a:t>Color detection refers to the ability of a system or software to identify and classify colors present in an image. By leveraging sophisticated algorithms, sensors, or cameras, this project aims to create an automated process capable of identifying color information in a wide range of objects, environments, or conditions.</a:t>
            </a:r>
            <a:endParaRPr lang="en-IN" sz="1600" dirty="0"/>
          </a:p>
        </p:txBody>
      </p:sp>
    </p:spTree>
    <p:extLst>
      <p:ext uri="{BB962C8B-B14F-4D97-AF65-F5344CB8AC3E}">
        <p14:creationId xmlns:p14="http://schemas.microsoft.com/office/powerpoint/2010/main" val="2997569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EE5224-DDC9-B329-9ACF-EB640EBEED5E}"/>
              </a:ext>
            </a:extLst>
          </p:cNvPr>
          <p:cNvSpPr txBox="1"/>
          <p:nvPr/>
        </p:nvSpPr>
        <p:spPr>
          <a:xfrm>
            <a:off x="726440" y="629920"/>
            <a:ext cx="10739120" cy="707886"/>
          </a:xfrm>
          <a:prstGeom prst="rect">
            <a:avLst/>
          </a:prstGeom>
          <a:noFill/>
        </p:spPr>
        <p:txBody>
          <a:bodyPr wrap="square" rtlCol="0">
            <a:spAutoFit/>
          </a:bodyPr>
          <a:lstStyle/>
          <a:p>
            <a:pPr algn="ctr"/>
            <a:r>
              <a:rPr lang="en-US" sz="4000" dirty="0"/>
              <a:t>Expected Conclusion</a:t>
            </a:r>
            <a:endParaRPr lang="en-IN" sz="4000" dirty="0"/>
          </a:p>
        </p:txBody>
      </p:sp>
      <p:sp>
        <p:nvSpPr>
          <p:cNvPr id="4" name="TextBox 3">
            <a:extLst>
              <a:ext uri="{FF2B5EF4-FFF2-40B4-BE49-F238E27FC236}">
                <a16:creationId xmlns:a16="http://schemas.microsoft.com/office/drawing/2014/main" id="{AF391D67-4B1F-45A1-82FA-01C0BC90BBD8}"/>
              </a:ext>
            </a:extLst>
          </p:cNvPr>
          <p:cNvSpPr txBox="1"/>
          <p:nvPr/>
        </p:nvSpPr>
        <p:spPr>
          <a:xfrm>
            <a:off x="797560" y="1700014"/>
            <a:ext cx="6116320" cy="400110"/>
          </a:xfrm>
          <a:prstGeom prst="rect">
            <a:avLst/>
          </a:prstGeom>
          <a:noFill/>
        </p:spPr>
        <p:txBody>
          <a:bodyPr wrap="square">
            <a:spAutoFit/>
          </a:bodyPr>
          <a:lstStyle/>
          <a:p>
            <a:r>
              <a:rPr lang="en-US" sz="2000" dirty="0">
                <a:solidFill>
                  <a:srgbClr val="00B0F0"/>
                </a:solidFill>
              </a:rPr>
              <a:t>Final thoughts and key </a:t>
            </a:r>
            <a:r>
              <a:rPr lang="en-US" sz="2000" dirty="0" err="1">
                <a:solidFill>
                  <a:srgbClr val="00B0F0"/>
                </a:solidFill>
              </a:rPr>
              <a:t>takeway</a:t>
            </a:r>
            <a:endParaRPr lang="en-IN" sz="2000" dirty="0">
              <a:solidFill>
                <a:srgbClr val="00B0F0"/>
              </a:solidFill>
            </a:endParaRPr>
          </a:p>
        </p:txBody>
      </p:sp>
      <p:sp>
        <p:nvSpPr>
          <p:cNvPr id="8" name="TextBox 7">
            <a:extLst>
              <a:ext uri="{FF2B5EF4-FFF2-40B4-BE49-F238E27FC236}">
                <a16:creationId xmlns:a16="http://schemas.microsoft.com/office/drawing/2014/main" id="{ED03BBE0-727A-4418-BF9A-7C05C1241F68}"/>
              </a:ext>
            </a:extLst>
          </p:cNvPr>
          <p:cNvSpPr txBox="1"/>
          <p:nvPr/>
        </p:nvSpPr>
        <p:spPr>
          <a:xfrm>
            <a:off x="726440" y="2100124"/>
            <a:ext cx="10642600" cy="646331"/>
          </a:xfrm>
          <a:prstGeom prst="rect">
            <a:avLst/>
          </a:prstGeom>
          <a:noFill/>
        </p:spPr>
        <p:txBody>
          <a:bodyPr wrap="square">
            <a:spAutoFit/>
          </a:bodyPr>
          <a:lstStyle/>
          <a:p>
            <a:r>
              <a:rPr lang="en-US" b="1" dirty="0"/>
              <a:t>1.Versatility and Wide Applicability</a:t>
            </a:r>
            <a:r>
              <a:rPr lang="en-US" dirty="0"/>
              <a:t>: Color detection is a versatile technology with the potential to revolutionize numerous industries, including healthcare, retail, agriculture, robotics, and more.</a:t>
            </a:r>
            <a:endParaRPr lang="en-IN" dirty="0"/>
          </a:p>
        </p:txBody>
      </p:sp>
      <p:sp>
        <p:nvSpPr>
          <p:cNvPr id="10" name="TextBox 9">
            <a:extLst>
              <a:ext uri="{FF2B5EF4-FFF2-40B4-BE49-F238E27FC236}">
                <a16:creationId xmlns:a16="http://schemas.microsoft.com/office/drawing/2014/main" id="{07C20848-CF1D-66F3-E64B-D9C93D7FFBB8}"/>
              </a:ext>
            </a:extLst>
          </p:cNvPr>
          <p:cNvSpPr txBox="1"/>
          <p:nvPr/>
        </p:nvSpPr>
        <p:spPr>
          <a:xfrm>
            <a:off x="726440" y="2729390"/>
            <a:ext cx="10571480" cy="646331"/>
          </a:xfrm>
          <a:prstGeom prst="rect">
            <a:avLst/>
          </a:prstGeom>
          <a:noFill/>
        </p:spPr>
        <p:txBody>
          <a:bodyPr wrap="square">
            <a:spAutoFit/>
          </a:bodyPr>
          <a:lstStyle/>
          <a:p>
            <a:r>
              <a:rPr lang="en-US" b="1" dirty="0"/>
              <a:t>2.Enhancing Automation</a:t>
            </a:r>
            <a:r>
              <a:rPr lang="en-US" dirty="0"/>
              <a:t>: Automating the process of color detection helps reduce manual errors, improve operational efficiency</a:t>
            </a:r>
            <a:endParaRPr lang="en-IN" dirty="0"/>
          </a:p>
        </p:txBody>
      </p:sp>
      <p:sp>
        <p:nvSpPr>
          <p:cNvPr id="12" name="TextBox 11">
            <a:extLst>
              <a:ext uri="{FF2B5EF4-FFF2-40B4-BE49-F238E27FC236}">
                <a16:creationId xmlns:a16="http://schemas.microsoft.com/office/drawing/2014/main" id="{9728C6DE-3316-6A93-87E5-080ED06999E6}"/>
              </a:ext>
            </a:extLst>
          </p:cNvPr>
          <p:cNvSpPr txBox="1"/>
          <p:nvPr/>
        </p:nvSpPr>
        <p:spPr>
          <a:xfrm>
            <a:off x="797560" y="3429000"/>
            <a:ext cx="10571480" cy="400110"/>
          </a:xfrm>
          <a:prstGeom prst="rect">
            <a:avLst/>
          </a:prstGeom>
          <a:noFill/>
        </p:spPr>
        <p:txBody>
          <a:bodyPr wrap="square">
            <a:spAutoFit/>
          </a:bodyPr>
          <a:lstStyle/>
          <a:p>
            <a:r>
              <a:rPr lang="en-US" sz="2000" dirty="0">
                <a:solidFill>
                  <a:srgbClr val="00B0F0"/>
                </a:solidFill>
              </a:rPr>
              <a:t>Future Directions for the Color Detection Project</a:t>
            </a:r>
            <a:endParaRPr lang="en-IN" sz="2000" dirty="0">
              <a:solidFill>
                <a:srgbClr val="00B0F0"/>
              </a:solidFill>
            </a:endParaRPr>
          </a:p>
        </p:txBody>
      </p:sp>
      <p:sp>
        <p:nvSpPr>
          <p:cNvPr id="14" name="TextBox 13">
            <a:extLst>
              <a:ext uri="{FF2B5EF4-FFF2-40B4-BE49-F238E27FC236}">
                <a16:creationId xmlns:a16="http://schemas.microsoft.com/office/drawing/2014/main" id="{653DE1B1-E71F-286F-C4E0-8270618C4332}"/>
              </a:ext>
            </a:extLst>
          </p:cNvPr>
          <p:cNvSpPr txBox="1"/>
          <p:nvPr/>
        </p:nvSpPr>
        <p:spPr>
          <a:xfrm>
            <a:off x="762000" y="3865324"/>
            <a:ext cx="10500360" cy="646331"/>
          </a:xfrm>
          <a:prstGeom prst="rect">
            <a:avLst/>
          </a:prstGeom>
          <a:noFill/>
        </p:spPr>
        <p:txBody>
          <a:bodyPr wrap="square">
            <a:spAutoFit/>
          </a:bodyPr>
          <a:lstStyle/>
          <a:p>
            <a:r>
              <a:rPr lang="en-US" b="1" dirty="0"/>
              <a:t>1.Context-Aware Color Detection</a:t>
            </a:r>
            <a:r>
              <a:rPr lang="en-US" dirty="0"/>
              <a:t>: Future systems could use deep learning to not only detect colors but also understand the context in which those colors are used.</a:t>
            </a:r>
            <a:endParaRPr lang="en-IN" dirty="0"/>
          </a:p>
        </p:txBody>
      </p:sp>
      <p:sp>
        <p:nvSpPr>
          <p:cNvPr id="16" name="TextBox 15">
            <a:extLst>
              <a:ext uri="{FF2B5EF4-FFF2-40B4-BE49-F238E27FC236}">
                <a16:creationId xmlns:a16="http://schemas.microsoft.com/office/drawing/2014/main" id="{E9EF445E-2283-A47C-3FFE-1D706C555FEF}"/>
              </a:ext>
            </a:extLst>
          </p:cNvPr>
          <p:cNvSpPr txBox="1"/>
          <p:nvPr/>
        </p:nvSpPr>
        <p:spPr>
          <a:xfrm>
            <a:off x="726440" y="4511655"/>
            <a:ext cx="10739120" cy="646331"/>
          </a:xfrm>
          <a:prstGeom prst="rect">
            <a:avLst/>
          </a:prstGeom>
          <a:noFill/>
        </p:spPr>
        <p:txBody>
          <a:bodyPr wrap="square">
            <a:spAutoFit/>
          </a:bodyPr>
          <a:lstStyle/>
          <a:p>
            <a:r>
              <a:rPr lang="en-US" b="1" dirty="0"/>
              <a:t>2.Self-Improving Models</a:t>
            </a:r>
            <a:r>
              <a:rPr lang="en-US" dirty="0"/>
              <a:t>: By utilizing reinforcement learning or other advanced AI techniques, color detection systems could adapt</a:t>
            </a:r>
            <a:endParaRPr lang="en-IN" dirty="0"/>
          </a:p>
        </p:txBody>
      </p:sp>
    </p:spTree>
    <p:extLst>
      <p:ext uri="{BB962C8B-B14F-4D97-AF65-F5344CB8AC3E}">
        <p14:creationId xmlns:p14="http://schemas.microsoft.com/office/powerpoint/2010/main" val="13245321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FB448C83-1E2D-4E63-90D2-E76476AE7671}"/>
              </a:ext>
            </a:extLst>
          </p:cNvPr>
          <p:cNvGraphicFramePr>
            <a:graphicFrameLocks noGrp="1"/>
          </p:cNvGraphicFramePr>
          <p:nvPr>
            <p:extLst>
              <p:ext uri="{D42A27DB-BD31-4B8C-83A1-F6EECF244321}">
                <p14:modId xmlns:p14="http://schemas.microsoft.com/office/powerpoint/2010/main" val="1824239983"/>
              </p:ext>
            </p:extLst>
          </p:nvPr>
        </p:nvGraphicFramePr>
        <p:xfrm>
          <a:off x="751840" y="1310640"/>
          <a:ext cx="10789922" cy="5043058"/>
        </p:xfrm>
        <a:graphic>
          <a:graphicData uri="http://schemas.openxmlformats.org/drawingml/2006/table">
            <a:tbl>
              <a:tblPr firstRow="1" bandRow="1">
                <a:tableStyleId>{5C22544A-7EE6-4342-B048-85BDC9FD1C3A}</a:tableStyleId>
              </a:tblPr>
              <a:tblGrid>
                <a:gridCol w="2646584">
                  <a:extLst>
                    <a:ext uri="{9D8B030D-6E8A-4147-A177-3AD203B41FA5}">
                      <a16:colId xmlns:a16="http://schemas.microsoft.com/office/drawing/2014/main" val="1758603058"/>
                    </a:ext>
                  </a:extLst>
                </a:gridCol>
                <a:gridCol w="2714446">
                  <a:extLst>
                    <a:ext uri="{9D8B030D-6E8A-4147-A177-3AD203B41FA5}">
                      <a16:colId xmlns:a16="http://schemas.microsoft.com/office/drawing/2014/main" val="1486181879"/>
                    </a:ext>
                  </a:extLst>
                </a:gridCol>
                <a:gridCol w="2714446">
                  <a:extLst>
                    <a:ext uri="{9D8B030D-6E8A-4147-A177-3AD203B41FA5}">
                      <a16:colId xmlns:a16="http://schemas.microsoft.com/office/drawing/2014/main" val="2785164393"/>
                    </a:ext>
                  </a:extLst>
                </a:gridCol>
                <a:gridCol w="2714446">
                  <a:extLst>
                    <a:ext uri="{9D8B030D-6E8A-4147-A177-3AD203B41FA5}">
                      <a16:colId xmlns:a16="http://schemas.microsoft.com/office/drawing/2014/main" val="2557929609"/>
                    </a:ext>
                  </a:extLst>
                </a:gridCol>
              </a:tblGrid>
              <a:tr h="361597">
                <a:tc>
                  <a:txBody>
                    <a:bodyPr/>
                    <a:lstStyle/>
                    <a:p>
                      <a:r>
                        <a:rPr lang="en-IN" b="1" dirty="0"/>
                        <a:t>Paper Name</a:t>
                      </a:r>
                      <a:endParaRPr lang="en-IN" dirty="0"/>
                    </a:p>
                  </a:txBody>
                  <a:tcPr anchor="ctr"/>
                </a:tc>
                <a:tc>
                  <a:txBody>
                    <a:bodyPr/>
                    <a:lstStyle/>
                    <a:p>
                      <a:r>
                        <a:rPr lang="en-IN" b="1"/>
                        <a:t>Objective</a:t>
                      </a:r>
                      <a:endParaRPr lang="en-IN"/>
                    </a:p>
                  </a:txBody>
                  <a:tcPr anchor="ctr"/>
                </a:tc>
                <a:tc>
                  <a:txBody>
                    <a:bodyPr/>
                    <a:lstStyle/>
                    <a:p>
                      <a:r>
                        <a:rPr lang="en-IN" b="1"/>
                        <a:t>Data</a:t>
                      </a:r>
                      <a:endParaRPr lang="en-IN"/>
                    </a:p>
                  </a:txBody>
                  <a:tcPr anchor="ctr"/>
                </a:tc>
                <a:tc>
                  <a:txBody>
                    <a:bodyPr/>
                    <a:lstStyle/>
                    <a:p>
                      <a:r>
                        <a:rPr lang="en-IN" b="1" dirty="0"/>
                        <a:t>Methods</a:t>
                      </a:r>
                      <a:endParaRPr lang="en-IN" dirty="0"/>
                    </a:p>
                  </a:txBody>
                  <a:tcPr anchor="ctr"/>
                </a:tc>
                <a:extLst>
                  <a:ext uri="{0D108BD9-81ED-4DB2-BD59-A6C34878D82A}">
                    <a16:rowId xmlns:a16="http://schemas.microsoft.com/office/drawing/2014/main" val="3490855587"/>
                  </a:ext>
                </a:extLst>
              </a:tr>
              <a:tr h="921329">
                <a:tc>
                  <a:txBody>
                    <a:bodyPr/>
                    <a:lstStyle/>
                    <a:p>
                      <a:r>
                        <a:rPr lang="en-IN" sz="1400" b="0" dirty="0" err="1"/>
                        <a:t>Color</a:t>
                      </a:r>
                      <a:r>
                        <a:rPr lang="en-IN" sz="1400" b="0" dirty="0"/>
                        <a:t> Detection Using OpenCV</a:t>
                      </a:r>
                    </a:p>
                  </a:txBody>
                  <a:tcPr anchor="ctr"/>
                </a:tc>
                <a:tc>
                  <a:txBody>
                    <a:bodyPr/>
                    <a:lstStyle/>
                    <a:p>
                      <a:r>
                        <a:rPr lang="en-US" sz="1400" dirty="0"/>
                        <a:t>To detect and classify colors in images and store results in CSV.</a:t>
                      </a:r>
                      <a:endParaRPr lang="en-IN" sz="1400" dirty="0"/>
                    </a:p>
                  </a:txBody>
                  <a:tcPr anchor="ctr"/>
                </a:tc>
                <a:tc>
                  <a:txBody>
                    <a:bodyPr/>
                    <a:lstStyle/>
                    <a:p>
                      <a:r>
                        <a:rPr lang="en-US" sz="1400" dirty="0"/>
                        <a:t>Images (JPG/PNG). </a:t>
                      </a:r>
                      <a:br>
                        <a:rPr lang="en-US" sz="1400" dirty="0"/>
                      </a:br>
                      <a:r>
                        <a:rPr lang="en-US" sz="1400" dirty="0"/>
                        <a:t>Output: CSV with RGB/HSV values.</a:t>
                      </a:r>
                      <a:endParaRPr lang="en-IN" sz="1400" dirty="0"/>
                    </a:p>
                  </a:txBody>
                  <a:tcPr/>
                </a:tc>
                <a:tc>
                  <a:txBody>
                    <a:bodyPr/>
                    <a:lstStyle/>
                    <a:p>
                      <a:r>
                        <a:rPr lang="en-US" sz="1400" dirty="0"/>
                        <a:t>OpenCV for image processing. </a:t>
                      </a:r>
                      <a:br>
                        <a:rPr lang="en-US" sz="1400" dirty="0"/>
                      </a:br>
                      <a:r>
                        <a:rPr lang="en-US" sz="1400" dirty="0"/>
                        <a:t>Thresholding for color extraction.</a:t>
                      </a:r>
                      <a:endParaRPr lang="en-IN" sz="1400" dirty="0"/>
                    </a:p>
                  </a:txBody>
                  <a:tcPr/>
                </a:tc>
                <a:extLst>
                  <a:ext uri="{0D108BD9-81ED-4DB2-BD59-A6C34878D82A}">
                    <a16:rowId xmlns:a16="http://schemas.microsoft.com/office/drawing/2014/main" val="2488987707"/>
                  </a:ext>
                </a:extLst>
              </a:tr>
              <a:tr h="921329">
                <a:tc>
                  <a:txBody>
                    <a:bodyPr/>
                    <a:lstStyle/>
                    <a:p>
                      <a:r>
                        <a:rPr lang="en-IN" sz="1400" dirty="0"/>
                        <a:t>Automated </a:t>
                      </a:r>
                      <a:r>
                        <a:rPr lang="en-IN" sz="1400" dirty="0" err="1"/>
                        <a:t>Color</a:t>
                      </a:r>
                      <a:r>
                        <a:rPr lang="en-IN" sz="1400" dirty="0"/>
                        <a:t> Classification</a:t>
                      </a:r>
                    </a:p>
                  </a:txBody>
                  <a:tcPr/>
                </a:tc>
                <a:tc>
                  <a:txBody>
                    <a:bodyPr/>
                    <a:lstStyle/>
                    <a:p>
                      <a:r>
                        <a:rPr lang="en-US" sz="1400" dirty="0"/>
                        <a:t>To classify colors in images and store results in CSV.</a:t>
                      </a:r>
                      <a:endParaRPr lang="en-IN" sz="1400" dirty="0"/>
                    </a:p>
                  </a:txBody>
                  <a:tcPr/>
                </a:tc>
                <a:tc>
                  <a:txBody>
                    <a:bodyPr/>
                    <a:lstStyle/>
                    <a:p>
                      <a:r>
                        <a:rPr lang="en-US" sz="1400" dirty="0"/>
                        <a:t>E-commerce product images. </a:t>
                      </a:r>
                      <a:br>
                        <a:rPr lang="en-US" sz="1400" dirty="0"/>
                      </a:br>
                      <a:r>
                        <a:rPr lang="en-US" sz="1400" dirty="0"/>
                        <a:t>Output: CSV with detected colors.</a:t>
                      </a:r>
                      <a:endParaRPr lang="en-IN" sz="1400" dirty="0"/>
                    </a:p>
                  </a:txBody>
                  <a:tcPr/>
                </a:tc>
                <a:tc>
                  <a:txBody>
                    <a:bodyPr/>
                    <a:lstStyle/>
                    <a:p>
                      <a:r>
                        <a:rPr lang="en-US" sz="1400" dirty="0"/>
                        <a:t>Thresholding and HSV conversion. </a:t>
                      </a:r>
                      <a:br>
                        <a:rPr lang="en-US" sz="1400" dirty="0"/>
                      </a:br>
                      <a:r>
                        <a:rPr lang="en-US" sz="1400" dirty="0"/>
                        <a:t>Data storage in CSV using Pandas.</a:t>
                      </a:r>
                      <a:endParaRPr lang="en-IN" sz="1400" dirty="0"/>
                    </a:p>
                  </a:txBody>
                  <a:tcPr/>
                </a:tc>
                <a:extLst>
                  <a:ext uri="{0D108BD9-81ED-4DB2-BD59-A6C34878D82A}">
                    <a16:rowId xmlns:a16="http://schemas.microsoft.com/office/drawing/2014/main" val="3829330544"/>
                  </a:ext>
                </a:extLst>
              </a:tr>
              <a:tr h="713286">
                <a:tc>
                  <a:txBody>
                    <a:bodyPr/>
                    <a:lstStyle/>
                    <a:p>
                      <a:r>
                        <a:rPr lang="en-US" sz="1400" dirty="0"/>
                        <a:t>Color Detection for Manufacturing Quality</a:t>
                      </a:r>
                      <a:endParaRPr lang="en-IN" sz="1400" dirty="0"/>
                    </a:p>
                  </a:txBody>
                  <a:tcPr/>
                </a:tc>
                <a:tc>
                  <a:txBody>
                    <a:bodyPr/>
                    <a:lstStyle/>
                    <a:p>
                      <a:r>
                        <a:rPr lang="en-US" sz="1400" dirty="0"/>
                        <a:t>To detect color defects in manufacturing and store data for analysis.</a:t>
                      </a:r>
                      <a:endParaRPr lang="en-IN" sz="1400" dirty="0"/>
                    </a:p>
                  </a:txBody>
                  <a:tcPr/>
                </a:tc>
                <a:tc>
                  <a:txBody>
                    <a:bodyPr/>
                    <a:lstStyle/>
                    <a:p>
                      <a:r>
                        <a:rPr lang="en-US" sz="1400" dirty="0"/>
                        <a:t>Manufacturing images. </a:t>
                      </a:r>
                      <a:br>
                        <a:rPr lang="en-US" sz="1400" dirty="0"/>
                      </a:br>
                      <a:r>
                        <a:rPr lang="en-US" sz="1400" dirty="0"/>
                        <a:t>Output: CSV with color data.</a:t>
                      </a:r>
                      <a:endParaRPr lang="en-IN" sz="1400" dirty="0"/>
                    </a:p>
                  </a:txBody>
                  <a:tcPr/>
                </a:tc>
                <a:tc>
                  <a:txBody>
                    <a:bodyPr/>
                    <a:lstStyle/>
                    <a:p>
                      <a:r>
                        <a:rPr lang="en-US" sz="1400" dirty="0"/>
                        <a:t>OpenCV for color defect detection. </a:t>
                      </a:r>
                      <a:br>
                        <a:rPr lang="en-US" sz="1400" dirty="0"/>
                      </a:br>
                      <a:r>
                        <a:rPr lang="en-US" sz="1400" dirty="0"/>
                        <a:t>Pandas for data storage.</a:t>
                      </a:r>
                      <a:endParaRPr lang="en-IN" sz="1400" dirty="0"/>
                    </a:p>
                  </a:txBody>
                  <a:tcPr/>
                </a:tc>
                <a:extLst>
                  <a:ext uri="{0D108BD9-81ED-4DB2-BD59-A6C34878D82A}">
                    <a16:rowId xmlns:a16="http://schemas.microsoft.com/office/drawing/2014/main" val="1409278620"/>
                  </a:ext>
                </a:extLst>
              </a:tr>
              <a:tr h="921329">
                <a:tc>
                  <a:txBody>
                    <a:bodyPr/>
                    <a:lstStyle/>
                    <a:p>
                      <a:r>
                        <a:rPr lang="en-US" sz="1400" dirty="0"/>
                        <a:t>Object Detection Using Color in Python</a:t>
                      </a:r>
                      <a:endParaRPr lang="en-IN" sz="1400" dirty="0"/>
                    </a:p>
                  </a:txBody>
                  <a:tcPr/>
                </a:tc>
                <a:tc>
                  <a:txBody>
                    <a:bodyPr/>
                    <a:lstStyle/>
                    <a:p>
                      <a:r>
                        <a:rPr lang="en-US" sz="1400" dirty="0"/>
                        <a:t>To detect objects based on color and store results in CSV.</a:t>
                      </a:r>
                      <a:endParaRPr lang="en-IN" sz="1400" dirty="0"/>
                    </a:p>
                  </a:txBody>
                  <a:tcPr/>
                </a:tc>
                <a:tc>
                  <a:txBody>
                    <a:bodyPr/>
                    <a:lstStyle/>
                    <a:p>
                      <a:r>
                        <a:rPr lang="en-US" sz="1400" dirty="0"/>
                        <a:t>Object images (e.g., fruits). </a:t>
                      </a:r>
                      <a:br>
                        <a:rPr lang="en-US" sz="1400" dirty="0"/>
                      </a:br>
                      <a:r>
                        <a:rPr lang="en-US" sz="1400" dirty="0"/>
                        <a:t>Output: CSV with color and coordinates.</a:t>
                      </a:r>
                      <a:endParaRPr lang="en-IN" sz="1400" dirty="0"/>
                    </a:p>
                  </a:txBody>
                  <a:tcPr/>
                </a:tc>
                <a:tc>
                  <a:txBody>
                    <a:bodyPr/>
                    <a:lstStyle/>
                    <a:p>
                      <a:r>
                        <a:rPr lang="en-US" sz="1400" dirty="0"/>
                        <a:t>OpenCV for color-based object detection. </a:t>
                      </a:r>
                      <a:br>
                        <a:rPr lang="en-US" sz="1400" dirty="0"/>
                      </a:br>
                      <a:r>
                        <a:rPr lang="en-US" sz="1400" dirty="0"/>
                        <a:t>CSV storage with Pandas.</a:t>
                      </a:r>
                      <a:endParaRPr lang="en-IN" sz="1400" dirty="0"/>
                    </a:p>
                  </a:txBody>
                  <a:tcPr/>
                </a:tc>
                <a:extLst>
                  <a:ext uri="{0D108BD9-81ED-4DB2-BD59-A6C34878D82A}">
                    <a16:rowId xmlns:a16="http://schemas.microsoft.com/office/drawing/2014/main" val="733679989"/>
                  </a:ext>
                </a:extLst>
              </a:tr>
              <a:tr h="1129371">
                <a:tc>
                  <a:txBody>
                    <a:bodyPr/>
                    <a:lstStyle/>
                    <a:p>
                      <a:r>
                        <a:rPr lang="en-IN" sz="1400" dirty="0"/>
                        <a:t>Real-Time Agriculture </a:t>
                      </a:r>
                      <a:r>
                        <a:rPr lang="en-IN" sz="1400" dirty="0" err="1"/>
                        <a:t>Color</a:t>
                      </a:r>
                      <a:r>
                        <a:rPr lang="en-IN" sz="1400" dirty="0"/>
                        <a:t> Detection</a:t>
                      </a:r>
                    </a:p>
                  </a:txBody>
                  <a:tcPr/>
                </a:tc>
                <a:tc>
                  <a:txBody>
                    <a:bodyPr/>
                    <a:lstStyle/>
                    <a:p>
                      <a:r>
                        <a:rPr lang="en-US" sz="1400" dirty="0"/>
                        <a:t>To monitor crop health in real-time and store data in CSV format.</a:t>
                      </a:r>
                      <a:endParaRPr lang="en-IN" sz="1400" dirty="0"/>
                    </a:p>
                  </a:txBody>
                  <a:tcPr/>
                </a:tc>
                <a:tc>
                  <a:txBody>
                    <a:bodyPr/>
                    <a:lstStyle/>
                    <a:p>
                      <a:r>
                        <a:rPr lang="en-US" sz="1400" dirty="0"/>
                        <a:t>Agricultural images (e.g., crops). </a:t>
                      </a:r>
                      <a:br>
                        <a:rPr lang="en-US" sz="1400" dirty="0"/>
                      </a:br>
                      <a:r>
                        <a:rPr lang="en-US" sz="1400" dirty="0"/>
                        <a:t>Output: CSV with detected color values.</a:t>
                      </a:r>
                      <a:endParaRPr lang="en-IN" sz="1400" dirty="0"/>
                    </a:p>
                  </a:txBody>
                  <a:tcPr/>
                </a:tc>
                <a:tc>
                  <a:txBody>
                    <a:bodyPr/>
                    <a:lstStyle/>
                    <a:p>
                      <a:r>
                        <a:rPr lang="en-US" sz="1400" dirty="0"/>
                        <a:t>Real-time image processing with OpenCV. </a:t>
                      </a:r>
                      <a:br>
                        <a:rPr lang="en-US" sz="1400" dirty="0"/>
                      </a:br>
                      <a:r>
                        <a:rPr lang="en-US" sz="1400" dirty="0"/>
                        <a:t>Thresholding for color detection. </a:t>
                      </a:r>
                      <a:br>
                        <a:rPr lang="en-US" sz="1400" dirty="0"/>
                      </a:br>
                      <a:r>
                        <a:rPr lang="en-US" sz="1400" dirty="0"/>
                        <a:t>Pandas for CSV logging.</a:t>
                      </a:r>
                      <a:endParaRPr lang="en-IN" sz="1400" dirty="0"/>
                    </a:p>
                  </a:txBody>
                  <a:tcPr/>
                </a:tc>
                <a:extLst>
                  <a:ext uri="{0D108BD9-81ED-4DB2-BD59-A6C34878D82A}">
                    <a16:rowId xmlns:a16="http://schemas.microsoft.com/office/drawing/2014/main" val="3531333217"/>
                  </a:ext>
                </a:extLst>
              </a:tr>
            </a:tbl>
          </a:graphicData>
        </a:graphic>
      </p:graphicFrame>
      <p:sp>
        <p:nvSpPr>
          <p:cNvPr id="3" name="TextBox 2">
            <a:extLst>
              <a:ext uri="{FF2B5EF4-FFF2-40B4-BE49-F238E27FC236}">
                <a16:creationId xmlns:a16="http://schemas.microsoft.com/office/drawing/2014/main" id="{13A42EF9-3DF9-94DE-10EB-8353484713DF}"/>
              </a:ext>
            </a:extLst>
          </p:cNvPr>
          <p:cNvSpPr txBox="1"/>
          <p:nvPr/>
        </p:nvSpPr>
        <p:spPr>
          <a:xfrm>
            <a:off x="670560" y="650240"/>
            <a:ext cx="10688320" cy="707886"/>
          </a:xfrm>
          <a:prstGeom prst="rect">
            <a:avLst/>
          </a:prstGeom>
          <a:noFill/>
        </p:spPr>
        <p:txBody>
          <a:bodyPr wrap="square" rtlCol="0">
            <a:spAutoFit/>
          </a:bodyPr>
          <a:lstStyle/>
          <a:p>
            <a:pPr algn="ctr"/>
            <a:r>
              <a:rPr lang="en-US" sz="4000" dirty="0"/>
              <a:t>Research Paper</a:t>
            </a:r>
            <a:endParaRPr lang="en-IN" sz="4000" dirty="0"/>
          </a:p>
        </p:txBody>
      </p:sp>
    </p:spTree>
    <p:extLst>
      <p:ext uri="{BB962C8B-B14F-4D97-AF65-F5344CB8AC3E}">
        <p14:creationId xmlns:p14="http://schemas.microsoft.com/office/powerpoint/2010/main" val="4160484655"/>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TM02900688[[fn=Facet]]</Template>
  <TotalTime>366</TotalTime>
  <Words>1323</Words>
  <Application>Microsoft Office PowerPoint</Application>
  <PresentationFormat>Widescreen</PresentationFormat>
  <Paragraphs>162</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Garamond</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 Ghorpade</dc:creator>
  <cp:lastModifiedBy>sahil pisal</cp:lastModifiedBy>
  <cp:revision>7</cp:revision>
  <dcterms:created xsi:type="dcterms:W3CDTF">2025-02-16T09:15:10Z</dcterms:created>
  <dcterms:modified xsi:type="dcterms:W3CDTF">2025-03-23T04:52:11Z</dcterms:modified>
</cp:coreProperties>
</file>